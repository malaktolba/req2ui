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introducing the team and the project name "Req2UI" — a graduation project from the Software Engineering track at AASTMT, supervised by Dr. Salma Radwan Abdel-Hamid.
- State the one-line pitch: turn a natural-language description of a software system into a complete, security-aware artifact bundle using AI.
- Note the academic context — B.Sc. defense, College of Computing and Information Technology, Smart Village, 2025/2026.
- Promise the committee a roughly 20-minute walkthrough covering motivation, architecture, demo, and validation.
- Invite questions at the end; mention the live demo can be opened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committee through the structure: 8 sections, roughly 20 minutes total.
- Sections 1–3 set up the motivation, objectives, and the proposed solution at a high level.
- Sections 4–6 dive into the 10-stage pipeline, concurrency, security, and the generated UML/UI/traceability outputs.
- Sections 7–8 cover the live demo, validation results, and where the work goes next.
- Flag that detailed Q&amp;A is at the end, but short clarifications between sections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stating that manual SRS authoring fails the modern team in three concrete ways.
- Slow: requirements take days to weeks per project and iteration loops are long, especially when stakeholders pivot mid-cycle.
- Inconsistent: two engineers reading the same input produce two very different SRS documents — style, depth, and terminology drift.
- Insecure: security requirements are routinely missing or bolted on late, rather than treated as a first-class spec deliverable.
- Land the message: these three pains are exactly what Req2UI was built to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stating that today's tools each cover only one slice of the spec phase — none spans the whole flow.
- Requirements tools stop at the SRS; UI prototypers assume requirements already exist upstream; test automators read from an external spec or from code, not from natural language.
- Land the two specific gaps the callout highlights: no tool auto-generates security requirements, and no tool keeps end-to-end traceability across artifacts.
- This fragmentation is precisely the gap Req2UI was built to close — set up the proposed solution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committee through the five objectives in order — they map directly to the deliverables validated later.
- Objective 1: a single natural-language input — no structured forms, no DSL — sets the usability bar.
- Objective 2: a full IEEE-830 SRS, including functional, non-functional, and security requirements.
- Objective 3: tests — functional aligned to IEEE 829, security driven by OWASP Top 10 (2021).
- Objectives 4 and 5: UML diagrams plus runnable UI code per screen, with end-to-end traceability and four export targets (PDF, DOCX, LaTeX, CSV).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table left to right: today's categories each cover only one slice — requirements, UI, tests, or security.
- Note that security scanners only do "partial" tests because they don't generate security requirements or run from natural language.
- Highlight the bottom row: Req2UI is the only entry with all five columns checked.
- Land the message: the gap is integration, not any single capability — Req2UI spans the whole flow.
- Tee up the next slide: this is why "one input, full suite" is the proposed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Pitch the one-line story: one input, full suite — the user describes a system in plain English and gets a complete, security-aware artifact bundle.
- Walk the three stages left to right: NL input, the 10-stage AI pipeline (Groq + Gemini running concurrently), and the artifact suite.
- Emphasize that security is generated, not bolted on — it is a first-class stage of the pipeline.
- Note the export targets (PDF, DOCX, LaTeX, CSV) so the artifacts land in whatever format the audience needs.
- Tee up the next slide: the layered system architecture that makes this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Three clean layers: a React SPA on the front, an Express API in the middle, Postgres on Neon at the back.
 - The front end is just a TypeScript SPA with Tailwind and an SSE listener so the user sees the pipeline run live.
 - The Express API is the brain — it orchestrates the 10-stage pipeline and hardens every request with JWT, Zod, Helmet and rate limits.
 - Postgres on Neon is serverless; we key every artifact by (project, type), which is what makes resume-on-failure possible.
 - This layered split is exactly what enables both concurrency and resumability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The pipeline is the centerpiece of the project — ten stages that turn one paragraph of natural language into a full artifact suite.
 - Stages 1 and 2 are sequential; from there, parallelism layers in: 3–5 together, then 6–7, then 8–10.
 - Stages 1 through 9 are all driven by Groq's llama-3.3-70b — text artifacts, JSON-structured.
 - Stage 10, the runnable UI code, is delegated to Google Gemini 2.5-flash-lite because code is its specialty.
 - The 10-stage split is also what makes resume-on-failure cheap: each stage is independently persistable.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Two LLMs, not one — each is chosen for what it's actually best at.
 - Groq llama-3.3-70b handles stages 1–9: it's fast on Groq's LPU, cheap, and emits clean structured JSON.
 - Google Gemini 2.5-flash-lite owns stage 10 — the runnable UI code — because code is its specialty.
 - The split also means cost stays low: we don't pay premium-model prices for text we can generate cheaper.
 - A pipeline router dispatches each stage to its model automatically — there's no manual handoff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Concurrency is layered, not flat — Lane A runs stage 01 alone, then Lane B fans out 02 through 05 in parallel.
 - Lane C runs 06 and 07 together; Lane D finishes with 08, 09, and 10 in parallel.
 - Layered parallelism is what cuts wall-clock time without making the dependency graph chaotic.
 - Every artifact is persisted keyed by (project, type) — that's the trick that lets a failed run resume from the last saved stage instead of restarting.
 - Live progress is streamed to the browser via Server-Sent Events, so the user watches each stage flip from queued to done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Security is generated, not bolted on — stage 4 of the pipeline auto-emits OWASP Top 10 (2021) requirements as part of the spec.
 - The auth stack is hardened end-to-end: JWT access tokens with 15-minute TTL, rotating refresh tokens hashed with SHA-256 and family-theft detection.
 - Passwords use bcrypt at cost factor 12; accounts lock after five failed logins with an audit entry.
 - Every API route validates payloads with Zod, Helmet sets security headers, CORS is locked to an allow-list, and rate-limits guard the auth + generation endpoints.
 - Two layers of defense: requirements generated in the spec, controls enforced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UML diagrams — use-case, class, sequence — are emitted as Mermaid, so they're editable text and trivially version-controllable.
 - We rasterize Mermaid to PNG via resvg-js so the same diagrams can be embedded cleanly into the PDF and DOCX exports.
 - UI code is stage 10, run by Gemini, and uses a deliberate two-pass strategy.
 - Pass 1 generates a shared design system — colors, typography, spacing, components — so every screen speaks the same visual language.
 - Pass 2 emits one HTML + Tailwind page per distinct screen, all consuming that design system — the result is low-fidelity but consistent and runnable.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- The traceability matrix is generated, not maintained by hand — every requirement links to its test case and (where applicable) its security control.
 - Coverage is 100% by construction: every functional requirement has a test, every security requirement has a security test.
 - The same matrix drives exports, so a stakeholder opening the PDF sees exactly what the engineer sees in-app.
 - Four export formats cover every audience: PDF for stakeholders, DOCX for downstream editing, LaTeX for academic use, CSV for tooling.
 - That closes the traceability gap called out in the problem statement — no artifact is an island.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overview — keep it crisp.
 - One language end-to-end: TypeScript across the React SPA, the Express API, and shared types — the team never context-switches.
 - Frontend is React 19 on Vite with Tailwind v4 and React Router 7; React 19's concurrent features power the live SSE progress UI.
 - Backend is Express 4 with JWT auth, Zod validation, Helmet headers, and bcrypt password hashing.
 - Data layer is serverless Postgres on Neon — pay-per-use, branchable, scales to zero between bursts.
 - AI is consumed as managed APIs: Groq llama-3.3-70b for text stages, Google Gemini 2.5-flash-lite for code generation.
 - Export toolchain (pdfkit, docx.js, csv-writer, resvg-js) runs server-side; deploy is split Vercel (FE) + Render (BE).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invite the committee in.
 - These four tiles preview the screens we can walk through live; each is a styled mock, not the real screenshot.
 - Dashboard is the entry point: project list, status badges, last-run timestamp, and quick actions.
 - Project Detail is the centerpiece — the 10-stage pipeline rendered with live SSE progress; we can re-run, pause, or resume from any saved stage.
 - Artifacts Viewer lists every generated artifact (SRS, tests, UML, UI code) and lets you download each individually.
 - UI Preview opens the generated HTML + Tailwind per screen in a sandboxed iframe for live preview.
 - Offer a live walkthrough on request — keep this slide to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&amp; validation — make the conformance case.
 - Validation is two-pronged: automated tests for code paths, and standards-based conformance for artifacts.
 - 24 automated tests pass across 2 suites — auth routes (JWT issuance, refresh, lockout) and export service (PDF/DOCX/CSV/LaTeX generation).
 - Every artifact type maps to a recognized standard — this is not ad-hoc.
 - SRS follows IEEE 830 structure; test cases follow IEEE 829 fields.
 - Security requirements are mapped to OWASP Top 10 (2021); process alignment follows IEEE 12207.
 - UML diagrams follow the standard — use-case, class, and sequence per the UML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— one objective, one outcome, all green.
 - Each of the five objectives set on slide 5 maps to a concrete, demonstrable deliverable.
 - Single input — the system accepts a free-form plain-language description with no structured forms or DSL.
 - Full SRS — IEEE-830 structure with functional, non-functional, and security requirements all generated.
 - Test cases — IEEE 829 functional tests plus OWASP-driven security tests.
 - UML + UI — Mermaid UML diagrams plus HTML + Tailwind per screen.
 - Traceability + exports — a coverage matrix plus PDF/DOCX/LaTeX/CSV bundles.
 - The gap stated in the problem statement is closed: first integrated pipeline of its kind.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&amp; future work — be candid, then point forward.
 - Output quality tracks both the LLM and the user's input detail — vague prompts yield vague specs.
 - Throughput is gated by free-tier rate limits on Groq and Gemini — a budget unlock, not an architectural one.
 - Generated UI is intentionally low-fidelity; it's a prototype scaffold, not production markup.
 - Some non-functional targets — full load testing and complete WCAG audits — still need dedicated test runs.
 - OWASP coverage is Top-10-only today; ASVS depth is on the roadmap.
 - Roadmap is concrete and incremental: admin tooling, in-app editing, self-critique loops, more export formats, fine-tuning, ASVS, and auto-running generated tests against generated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land the contribution in one line, then pause.
 - One sentence: Req2UI closes the gap stated earlier in the deck.
 - The pipeline is the first integrated coverage from natural language to SRS, to UI prototype, to functional and security test cases.
 - Two differentiators we want the committee to remember: security is generated, not bolted on; and traceability is end-to-end across every artifact.
 - Tagline reinforces the mental model: one input, ten stages, a complete security-aware artifact suite.
 - Pause briefly here, then invite questions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keep it warm and brief.
 - Thank the committee for their time and attention throughout the talk.
 - Thank our supervisor Dr. Salma Radwan Abdel-Hamid for her guidance, feedback, and patience across the project.
 - Thank the team — Mennatallah, Mayar, Yasmin, Malak, and Mohamed — every artifact in this deck was a shared effort.
 - Acknowledge the Arab Academy for Science, Technology &amp; Maritime Transport and the College of Computing and Information Technology.
 - Open the floor: questions are welcome on any stage, decision, or trade-off — we're ready to go deep on architecture, security, or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0750" y="-1571625"/>
            <a:ext cx="4429125" cy="44291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3000375"/>
            <a:ext cx="3714750" cy="3714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398264"/>
            <a:ext cx="85725" cy="85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71475"/>
            <a:ext cx="6406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61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5972" y="375047"/>
            <a:ext cx="850106" cy="850106"/>
          </a:xfrm>
          <a:prstGeom prst="roundRect">
            <a:avLst>
              <a:gd name="adj" fmla="val 13445"/>
            </a:avLst>
          </a:prstGeom>
          <a:solidFill>
            <a:srgbClr val="F8FAFC"/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266700" dist="76200" dir="5400000">
              <a:srgbClr val="020617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tmp/h2p-fit-1782283733390-75v9m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981" y="450056"/>
            <a:ext cx="700088" cy="7000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7922" y="1665052"/>
            <a:ext cx="6565106" cy="210741"/>
          </a:xfrm>
          <a:prstGeom prst="roundRect">
            <a:avLst>
              <a:gd name="adj" fmla="val 4515246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14350" y="1661480"/>
            <a:ext cx="6572250" cy="304246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B.SC. SOFTWARE ENGINEERING — GRADUATION PROJECT DEFENSE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4350" y="2007952"/>
            <a:ext cx="8412480" cy="90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26"/>
              </a:lnSpc>
              <a:buNone/>
            </a:pPr>
            <a:r>
              <a:rPr lang="en-US" sz="6975" b="1" spc="-314" kern="0" dirty="0">
                <a:solidFill>
                  <a:srgbClr val="818C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6975" dirty="0"/>
          </a:p>
        </p:txBody>
      </p:sp>
      <p:sp>
        <p:nvSpPr>
          <p:cNvPr id="12" name="Text 8"/>
          <p:cNvSpPr/>
          <p:nvPr/>
        </p:nvSpPr>
        <p:spPr>
          <a:xfrm>
            <a:off x="514350" y="2949476"/>
            <a:ext cx="6572250" cy="28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7"/>
              </a:lnSpc>
              <a:buNone/>
            </a:pPr>
            <a:r>
              <a:rPr lang="en-US" sz="1575" spc="-16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Natural Language to Secure Software Artifacts Using AI</a:t>
            </a:r>
            <a:endParaRPr lang="en-US" sz="1575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366604"/>
            <a:ext cx="785813" cy="285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4350" y="3566629"/>
            <a:ext cx="657225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Arab Academy for Science, Technology &amp; Maritime Transport (AASTMT) — College of Computing and Information Technology, Smart Village — 2025/2026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14350" y="3867671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spc="37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</a:t>
            </a:r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Mennatallah Hany · Mayar Hany · Yasmin Haitham · Malak Tarek · Mohamed Bassem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14350" y="4081983"/>
            <a:ext cx="70980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b="1" spc="37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Salma Radwan Abdel-Hamid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 · AASTMT 2025/2026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21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55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83959" y="371475"/>
            <a:ext cx="4560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3304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we’ll cover</a:t>
            </a:r>
            <a:endParaRPr lang="en-US" sz="2363" dirty="0"/>
          </a:p>
        </p:txBody>
      </p:sp>
      <p:sp>
        <p:nvSpPr>
          <p:cNvPr id="6" name="Text 4"/>
          <p:cNvSpPr/>
          <p:nvPr/>
        </p:nvSpPr>
        <p:spPr>
          <a:xfrm>
            <a:off x="514350" y="1050801"/>
            <a:ext cx="86296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Eight sections, ~20 minutes.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18692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22301"/>
            <a:ext cx="1930598" cy="139671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8656" y="1783035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138" dirty="0"/>
          </a:p>
        </p:txBody>
      </p:sp>
      <p:sp>
        <p:nvSpPr>
          <p:cNvPr id="10" name="Text 7"/>
          <p:cNvSpPr/>
          <p:nvPr/>
        </p:nvSpPr>
        <p:spPr>
          <a:xfrm>
            <a:off x="678656" y="2125935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8656" y="2247379"/>
            <a:ext cx="1609130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Motivation &amp; Problem</a:t>
            </a:r>
            <a:endParaRPr lang="en-US" sz="872" dirty="0"/>
          </a:p>
        </p:txBody>
      </p:sp>
      <p:sp>
        <p:nvSpPr>
          <p:cNvPr id="12" name="Text 9"/>
          <p:cNvSpPr/>
          <p:nvPr/>
        </p:nvSpPr>
        <p:spPr>
          <a:xfrm>
            <a:off x="678656" y="2428652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manual SRS fails.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77108" y="1622301"/>
            <a:ext cx="1930598" cy="139671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37842" y="1783035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138" dirty="0"/>
          </a:p>
        </p:txBody>
      </p:sp>
      <p:sp>
        <p:nvSpPr>
          <p:cNvPr id="15" name="Text 12"/>
          <p:cNvSpPr/>
          <p:nvPr/>
        </p:nvSpPr>
        <p:spPr>
          <a:xfrm>
            <a:off x="2737842" y="2125935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37842" y="2247379"/>
            <a:ext cx="1609130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Objectives &amp; Related Work</a:t>
            </a:r>
            <a:endParaRPr lang="en-US" sz="872" dirty="0"/>
          </a:p>
        </p:txBody>
      </p:sp>
      <p:sp>
        <p:nvSpPr>
          <p:cNvPr id="17" name="Text 14"/>
          <p:cNvSpPr/>
          <p:nvPr/>
        </p:nvSpPr>
        <p:spPr>
          <a:xfrm>
            <a:off x="2737842" y="2428652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set out to do.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36294" y="1622301"/>
            <a:ext cx="1930598" cy="139671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97028" y="1783035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138" dirty="0"/>
          </a:p>
        </p:txBody>
      </p:sp>
      <p:sp>
        <p:nvSpPr>
          <p:cNvPr id="20" name="Text 17"/>
          <p:cNvSpPr/>
          <p:nvPr/>
        </p:nvSpPr>
        <p:spPr>
          <a:xfrm>
            <a:off x="4797028" y="2125935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97028" y="2247379"/>
            <a:ext cx="1705677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Proposed Solution &amp; Architecture</a:t>
            </a:r>
            <a:endParaRPr lang="en-US" sz="872" dirty="0"/>
          </a:p>
        </p:txBody>
      </p:sp>
      <p:sp>
        <p:nvSpPr>
          <p:cNvPr id="22" name="Text 19"/>
          <p:cNvSpPr/>
          <p:nvPr/>
        </p:nvSpPr>
        <p:spPr>
          <a:xfrm>
            <a:off x="4797028" y="2428652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big idea.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95480" y="1622301"/>
            <a:ext cx="1930598" cy="1396715"/>
          </a:xfrm>
          <a:prstGeom prst="roundRect">
            <a:avLst>
              <a:gd name="adj" fmla="val 954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56214" y="1783035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138" dirty="0"/>
          </a:p>
        </p:txBody>
      </p:sp>
      <p:sp>
        <p:nvSpPr>
          <p:cNvPr id="25" name="Text 22"/>
          <p:cNvSpPr/>
          <p:nvPr/>
        </p:nvSpPr>
        <p:spPr>
          <a:xfrm>
            <a:off x="6856214" y="2125935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856214" y="2247379"/>
            <a:ext cx="1609130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10-Stage Pipeline</a:t>
            </a:r>
            <a:endParaRPr lang="en-US" sz="872" dirty="0"/>
          </a:p>
        </p:txBody>
      </p:sp>
      <p:sp>
        <p:nvSpPr>
          <p:cNvPr id="27" name="Text 24"/>
          <p:cNvSpPr/>
          <p:nvPr/>
        </p:nvSpPr>
        <p:spPr>
          <a:xfrm>
            <a:off x="6856214" y="2428652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Centerpiece.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2" y="3147603"/>
            <a:ext cx="1930598" cy="1535125"/>
          </a:xfrm>
          <a:prstGeom prst="roundRect">
            <a:avLst>
              <a:gd name="adj" fmla="val 868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78656" y="3308338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138" dirty="0"/>
          </a:p>
        </p:txBody>
      </p:sp>
      <p:sp>
        <p:nvSpPr>
          <p:cNvPr id="30" name="Text 27"/>
          <p:cNvSpPr/>
          <p:nvPr/>
        </p:nvSpPr>
        <p:spPr>
          <a:xfrm>
            <a:off x="678656" y="3651238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78656" y="3772681"/>
            <a:ext cx="1609130" cy="292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Concurrency, Resumability &amp; Security</a:t>
            </a:r>
            <a:endParaRPr lang="en-US" sz="872" dirty="0"/>
          </a:p>
        </p:txBody>
      </p:sp>
      <p:sp>
        <p:nvSpPr>
          <p:cNvPr id="32" name="Text 29"/>
          <p:cNvSpPr/>
          <p:nvPr/>
        </p:nvSpPr>
        <p:spPr>
          <a:xfrm>
            <a:off x="678656" y="4092364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stays fast &amp; safe.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577108" y="3147603"/>
            <a:ext cx="1930598" cy="1535125"/>
          </a:xfrm>
          <a:prstGeom prst="roundRect">
            <a:avLst>
              <a:gd name="adj" fmla="val 868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37842" y="3308338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138" dirty="0"/>
          </a:p>
        </p:txBody>
      </p:sp>
      <p:sp>
        <p:nvSpPr>
          <p:cNvPr id="35" name="Text 32"/>
          <p:cNvSpPr/>
          <p:nvPr/>
        </p:nvSpPr>
        <p:spPr>
          <a:xfrm>
            <a:off x="2737842" y="3651238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37842" y="3772681"/>
            <a:ext cx="1705677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UML, UI Code &amp; Traceability</a:t>
            </a:r>
            <a:endParaRPr lang="en-US" sz="872" dirty="0"/>
          </a:p>
        </p:txBody>
      </p:sp>
      <p:sp>
        <p:nvSpPr>
          <p:cNvPr id="37" name="Text 34"/>
          <p:cNvSpPr/>
          <p:nvPr/>
        </p:nvSpPr>
        <p:spPr>
          <a:xfrm>
            <a:off x="2737842" y="3953954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Outputs.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36294" y="3147603"/>
            <a:ext cx="1930598" cy="1535125"/>
          </a:xfrm>
          <a:prstGeom prst="roundRect">
            <a:avLst>
              <a:gd name="adj" fmla="val 868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797028" y="3308338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138" dirty="0"/>
          </a:p>
        </p:txBody>
      </p:sp>
      <p:sp>
        <p:nvSpPr>
          <p:cNvPr id="40" name="Text 37"/>
          <p:cNvSpPr/>
          <p:nvPr/>
        </p:nvSpPr>
        <p:spPr>
          <a:xfrm>
            <a:off x="4797028" y="3651238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97028" y="3772681"/>
            <a:ext cx="1609130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 &amp; Live Demo</a:t>
            </a:r>
            <a:endParaRPr lang="en-US" sz="872" dirty="0"/>
          </a:p>
        </p:txBody>
      </p:sp>
      <p:sp>
        <p:nvSpPr>
          <p:cNvPr id="42" name="Text 39"/>
          <p:cNvSpPr/>
          <p:nvPr/>
        </p:nvSpPr>
        <p:spPr>
          <a:xfrm>
            <a:off x="4797028" y="3953954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What’s running.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695480" y="3147603"/>
            <a:ext cx="1930598" cy="1535125"/>
          </a:xfrm>
          <a:prstGeom prst="roundRect">
            <a:avLst>
              <a:gd name="adj" fmla="val 868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856214" y="3308338"/>
            <a:ext cx="1609130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2138" dirty="0"/>
          </a:p>
        </p:txBody>
      </p:sp>
      <p:sp>
        <p:nvSpPr>
          <p:cNvPr id="45" name="Text 42"/>
          <p:cNvSpPr/>
          <p:nvPr/>
        </p:nvSpPr>
        <p:spPr>
          <a:xfrm>
            <a:off x="6856214" y="3651238"/>
            <a:ext cx="171450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856214" y="3772681"/>
            <a:ext cx="1705677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Testing, Results &amp; Future Work</a:t>
            </a:r>
            <a:endParaRPr lang="en-US" sz="872" dirty="0"/>
          </a:p>
        </p:txBody>
      </p:sp>
      <p:sp>
        <p:nvSpPr>
          <p:cNvPr id="47" name="Text 44"/>
          <p:cNvSpPr/>
          <p:nvPr/>
        </p:nvSpPr>
        <p:spPr>
          <a:xfrm>
            <a:off x="6856214" y="3953954"/>
            <a:ext cx="160913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+ roadmap.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6076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36285" y="371475"/>
            <a:ext cx="597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629650" cy="345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62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Why Req2UI?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065758"/>
            <a:ext cx="86296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SRS authoring fails the modern team.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364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80121"/>
            <a:ext cx="2576438" cy="3002607"/>
          </a:xfrm>
          <a:prstGeom prst="roundRect">
            <a:avLst>
              <a:gd name="adj" fmla="val 591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2983" y="1840855"/>
            <a:ext cx="97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25091" y="1915864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6167" y="195694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109" dirty="0"/>
          </a:p>
        </p:txBody>
      </p:sp>
      <p:sp>
        <p:nvSpPr>
          <p:cNvPr id="12" name="Text 9"/>
          <p:cNvSpPr/>
          <p:nvPr/>
        </p:nvSpPr>
        <p:spPr>
          <a:xfrm>
            <a:off x="721519" y="2469505"/>
            <a:ext cx="2169244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</a:t>
            </a:r>
            <a:endParaRPr lang="en-US" sz="20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2826693"/>
            <a:ext cx="228600" cy="214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519" y="2948136"/>
            <a:ext cx="2169244" cy="6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 authored by hand take days to weeks per project. Iteration is painful and feedback loops are long, especially when stakeholders change their minds mid-cycle.</a:t>
            </a:r>
            <a:endParaRPr lang="en-US" sz="816" dirty="0"/>
          </a:p>
        </p:txBody>
      </p:sp>
      <p:sp>
        <p:nvSpPr>
          <p:cNvPr id="15" name="Text 11"/>
          <p:cNvSpPr/>
          <p:nvPr/>
        </p:nvSpPr>
        <p:spPr>
          <a:xfrm>
            <a:off x="3283669" y="1680121"/>
            <a:ext cx="2576550" cy="3002607"/>
          </a:xfrm>
          <a:prstGeom prst="roundRect">
            <a:avLst>
              <a:gd name="adj" fmla="val 591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558842" y="1840855"/>
            <a:ext cx="97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490838" y="1915864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531915" y="195694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2109" dirty="0"/>
          </a:p>
        </p:txBody>
      </p:sp>
      <p:sp>
        <p:nvSpPr>
          <p:cNvPr id="19" name="Text 15"/>
          <p:cNvSpPr/>
          <p:nvPr/>
        </p:nvSpPr>
        <p:spPr>
          <a:xfrm>
            <a:off x="3487266" y="2469505"/>
            <a:ext cx="2169356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INCONSISTENT</a:t>
            </a:r>
            <a:endParaRPr lang="en-US" sz="202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266" y="2826693"/>
            <a:ext cx="228600" cy="2143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87266" y="2948136"/>
            <a:ext cx="2169356" cy="6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Style, depth, and terminology vary across teams and across projects. Two engineers reading the same input will produce two very different SRS documents.</a:t>
            </a:r>
            <a:endParaRPr lang="en-US" sz="816" dirty="0"/>
          </a:p>
        </p:txBody>
      </p:sp>
      <p:sp>
        <p:nvSpPr>
          <p:cNvPr id="22" name="Text 17"/>
          <p:cNvSpPr/>
          <p:nvPr/>
        </p:nvSpPr>
        <p:spPr>
          <a:xfrm>
            <a:off x="6049528" y="1680121"/>
            <a:ext cx="2576438" cy="3002607"/>
          </a:xfrm>
          <a:prstGeom prst="roundRect">
            <a:avLst>
              <a:gd name="adj" fmla="val 591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8324590" y="1840855"/>
            <a:ext cx="97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256697" y="1915864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297774" y="1956941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109" dirty="0"/>
          </a:p>
        </p:txBody>
      </p:sp>
      <p:sp>
        <p:nvSpPr>
          <p:cNvPr id="26" name="Text 21"/>
          <p:cNvSpPr/>
          <p:nvPr/>
        </p:nvSpPr>
        <p:spPr>
          <a:xfrm>
            <a:off x="6253125" y="2469505"/>
            <a:ext cx="2169244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INSECURE</a:t>
            </a:r>
            <a:endParaRPr lang="en-US" sz="2025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125" y="2826693"/>
            <a:ext cx="228600" cy="2143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53125" y="2948136"/>
            <a:ext cx="2169244" cy="6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requirements are routinely missing or tacked on late. Teams treat them as an afterthought rather than a first-class deliverable of the spec phase.</a:t>
            </a:r>
            <a:endParaRPr lang="en-US" sz="816" dirty="0"/>
          </a:p>
        </p:txBody>
      </p:sp>
      <p:sp>
        <p:nvSpPr>
          <p:cNvPr id="29" name="Text 23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174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46120" y="371475"/>
            <a:ext cx="5060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345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62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tooling gap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065758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Today’s tools each cover only one slice — none span the whole flow.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364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51546"/>
            <a:ext cx="2596753" cy="2288232"/>
          </a:xfrm>
          <a:prstGeom prst="roundRect">
            <a:avLst>
              <a:gd name="adj" fmla="val 5828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00474" y="181228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6516" y="184442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5805" y="187371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92944" y="2269480"/>
            <a:ext cx="2246709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 tools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692944" y="2495178"/>
            <a:ext cx="2246709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an SRS document and stop there. No downstream artifacts, no security generation, no traceability to tests or UI.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73623" y="1651546"/>
            <a:ext cx="2596753" cy="2288232"/>
          </a:xfrm>
          <a:prstGeom prst="roundRect">
            <a:avLst>
              <a:gd name="adj" fmla="val 5828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56176" y="181228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52217" y="184442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81507" y="187371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3448645" y="2269480"/>
            <a:ext cx="2246709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prototyping tools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3448645" y="2495178"/>
            <a:ext cx="2246709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Produce screens and components, but assume requirements are already settled upstream. No link back to a spec.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29325" y="1651546"/>
            <a:ext cx="2596753" cy="2288232"/>
          </a:xfrm>
          <a:prstGeom prst="roundRect">
            <a:avLst>
              <a:gd name="adj" fmla="val 5828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411877" y="181228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07919" y="1844427"/>
            <a:ext cx="307181" cy="307181"/>
          </a:xfrm>
          <a:prstGeom prst="roundRect">
            <a:avLst>
              <a:gd name="adj" fmla="val 3410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37208" y="187371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6204347" y="2269480"/>
            <a:ext cx="2246709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spc="-1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tools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6204347" y="2495178"/>
            <a:ext cx="2246709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Assume requirements exist. They generate tests from an external spec or from existing code — not from natural language.</a:t>
            </a:r>
            <a:endParaRPr lang="en-US" sz="8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100513"/>
            <a:ext cx="8115300" cy="5857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7922" y="4104084"/>
            <a:ext cx="8108156" cy="578644"/>
          </a:xfrm>
          <a:prstGeom prst="roundRect">
            <a:avLst>
              <a:gd name="adj" fmla="val 23045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21519" y="425053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6366F1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50451" y="42794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7D2F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547" dirty="0"/>
          </a:p>
        </p:txBody>
      </p:sp>
      <p:sp>
        <p:nvSpPr>
          <p:cNvPr id="30" name="Text 26"/>
          <p:cNvSpPr/>
          <p:nvPr/>
        </p:nvSpPr>
        <p:spPr>
          <a:xfrm>
            <a:off x="1121569" y="4308351"/>
            <a:ext cx="7300913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b="1" spc="-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tool auto-generates security requirements.</a:t>
            </a:r>
            <a:pPr algn="l" indent="0" marL="0">
              <a:lnSpc>
                <a:spcPts val="1339"/>
              </a:lnSpc>
              <a:buNone/>
            </a:pPr>
            <a:r>
              <a:rPr lang="en-US" sz="956" spc="-5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39"/>
              </a:lnSpc>
              <a:buNone/>
            </a:pPr>
            <a:r>
              <a:rPr lang="en-US" sz="956" b="1" spc="-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tool keeps end-to-end traceability</a:t>
            </a:r>
            <a:pPr algn="l" indent="0" marL="0">
              <a:lnSpc>
                <a:spcPts val="1339"/>
              </a:lnSpc>
              <a:buNone/>
            </a:pPr>
            <a:r>
              <a:rPr lang="en-US" sz="956" spc="-5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artifacts.</a:t>
            </a:r>
            <a:endParaRPr lang="en-US" sz="956" dirty="0"/>
          </a:p>
        </p:txBody>
      </p:sp>
      <p:sp>
        <p:nvSpPr>
          <p:cNvPr id="31" name="Text 27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6115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0192" y="371475"/>
            <a:ext cx="59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345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62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objectives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065758"/>
            <a:ext cx="86296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What Req2UI set out to deliver.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364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5833"/>
            <a:ext cx="1543050" cy="3016895"/>
          </a:xfrm>
          <a:prstGeom prst="roundRect">
            <a:avLst>
              <a:gd name="adj" fmla="val 864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19510" y="1826568"/>
            <a:ext cx="29501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95" dirty="0"/>
          </a:p>
        </p:txBody>
      </p:sp>
      <p:sp>
        <p:nvSpPr>
          <p:cNvPr id="10" name="Text 7"/>
          <p:cNvSpPr/>
          <p:nvPr/>
        </p:nvSpPr>
        <p:spPr>
          <a:xfrm>
            <a:off x="664369" y="1840855"/>
            <a:ext cx="125015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7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664369" y="225519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2376636"/>
            <a:ext cx="12501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input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4369" y="2590949"/>
            <a:ext cx="13251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Accept a plain-language description of a software system as the only input. No structured forms, no DSL.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59198" y="1665833"/>
            <a:ext cx="1543050" cy="3016895"/>
          </a:xfrm>
          <a:prstGeom prst="roundRect">
            <a:avLst>
              <a:gd name="adj" fmla="val 864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99569" y="1826568"/>
            <a:ext cx="75623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95" dirty="0"/>
          </a:p>
        </p:txBody>
      </p:sp>
      <p:sp>
        <p:nvSpPr>
          <p:cNvPr id="16" name="Text 13"/>
          <p:cNvSpPr/>
          <p:nvPr/>
        </p:nvSpPr>
        <p:spPr>
          <a:xfrm>
            <a:off x="2305645" y="1840855"/>
            <a:ext cx="125015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7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2305645" y="225519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05645" y="2376636"/>
            <a:ext cx="12501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305645" y="2590949"/>
            <a:ext cx="13251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 a complete IEEE-830 SRS with functional, non-functional, and security requirements.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800475" y="1665833"/>
            <a:ext cx="1543050" cy="3016895"/>
          </a:xfrm>
          <a:prstGeom prst="roundRect">
            <a:avLst>
              <a:gd name="adj" fmla="val 864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91199" y="1826568"/>
            <a:ext cx="60587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2" name="Text 19"/>
          <p:cNvSpPr/>
          <p:nvPr/>
        </p:nvSpPr>
        <p:spPr>
          <a:xfrm>
            <a:off x="3946922" y="1840855"/>
            <a:ext cx="125015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7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475" dirty="0"/>
          </a:p>
        </p:txBody>
      </p:sp>
      <p:sp>
        <p:nvSpPr>
          <p:cNvPr id="23" name="Text 20"/>
          <p:cNvSpPr/>
          <p:nvPr/>
        </p:nvSpPr>
        <p:spPr>
          <a:xfrm>
            <a:off x="3946922" y="225519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946922" y="2376636"/>
            <a:ext cx="12501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946922" y="2590949"/>
            <a:ext cx="13251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functional test cases aligned to IEEE 829 and security test cases driven by OWASP Top 10 (2021).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41752" y="1665833"/>
            <a:ext cx="1543050" cy="3016895"/>
          </a:xfrm>
          <a:prstGeom prst="roundRect">
            <a:avLst>
              <a:gd name="adj" fmla="val 864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950074" y="1826568"/>
            <a:ext cx="8882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8" name="Text 25"/>
          <p:cNvSpPr/>
          <p:nvPr/>
        </p:nvSpPr>
        <p:spPr>
          <a:xfrm>
            <a:off x="5588198" y="1840855"/>
            <a:ext cx="125015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7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5588198" y="225519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588198" y="2376636"/>
            <a:ext cx="12501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 + UI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88198" y="2590949"/>
            <a:ext cx="13251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Produce UML diagrams (use-case, class, sequence) and runnable UI code (HTML + Tailwind) per screen.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083028" y="1665833"/>
            <a:ext cx="1543050" cy="3016895"/>
          </a:xfrm>
          <a:prstGeom prst="roundRect">
            <a:avLst>
              <a:gd name="adj" fmla="val 864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8225470" y="1826568"/>
            <a:ext cx="25416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34" name="Text 31"/>
          <p:cNvSpPr/>
          <p:nvPr/>
        </p:nvSpPr>
        <p:spPr>
          <a:xfrm>
            <a:off x="7229475" y="1840855"/>
            <a:ext cx="1250156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7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475" dirty="0"/>
          </a:p>
        </p:txBody>
      </p:sp>
      <p:sp>
        <p:nvSpPr>
          <p:cNvPr id="35" name="Text 32"/>
          <p:cNvSpPr/>
          <p:nvPr/>
        </p:nvSpPr>
        <p:spPr>
          <a:xfrm>
            <a:off x="7229475" y="225519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6366F1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229475" y="2376636"/>
            <a:ext cx="125015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 + export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229475" y="2590949"/>
            <a:ext cx="13251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Maintain end-to-end traceability across artifacts and export the bundle as PDF, DOCX, LaTeX, and CSV.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298" y="1654448"/>
            <a:ext cx="0" cy="39290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494" y="2043782"/>
            <a:ext cx="244137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35" y="1654448"/>
            <a:ext cx="0" cy="39290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62870" y="2043782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78772" y="1654448"/>
            <a:ext cx="0" cy="39290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72607" y="2043782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8398" y="1654448"/>
            <a:ext cx="0" cy="39290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2344" y="2043782"/>
            <a:ext cx="1109625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134" y="1654448"/>
            <a:ext cx="0" cy="39290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969" y="2043782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1706" y="2043782"/>
            <a:ext cx="1220800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9298" y="2047354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494" y="2493838"/>
            <a:ext cx="244137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35" y="2047354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2870" y="2493838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8772" y="2047354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72607" y="2493838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8398" y="2047354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2344" y="2493838"/>
            <a:ext cx="1109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8134" y="2047354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969" y="2493838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1706" y="2493838"/>
            <a:ext cx="12208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59298" y="2497410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494" y="2943895"/>
            <a:ext cx="244137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35" y="2497410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2870" y="2943895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8772" y="2497410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72607" y="2943895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8398" y="2497410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2344" y="2943895"/>
            <a:ext cx="1109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98134" y="2497410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969" y="2943895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1706" y="2943895"/>
            <a:ext cx="12208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59298" y="2947467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494" y="3393951"/>
            <a:ext cx="244137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9035" y="2947467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62870" y="3393951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78772" y="2947467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72607" y="3393951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8398" y="2947467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2344" y="3393951"/>
            <a:ext cx="1109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98134" y="2947467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1969" y="3393951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1706" y="3393951"/>
            <a:ext cx="12208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59298" y="3397523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494" y="3844007"/>
            <a:ext cx="244137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69035" y="3397523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62870" y="3844007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78772" y="3397523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72607" y="3844007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88398" y="3397523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82344" y="3844007"/>
            <a:ext cx="1109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98134" y="3397523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91969" y="3844007"/>
            <a:ext cx="1109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1706" y="3844007"/>
            <a:ext cx="12208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1494" y="3851151"/>
            <a:ext cx="244137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59298" y="3847579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62870" y="3851151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69035" y="3847579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72607" y="3851151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78772" y="3847579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82344" y="3851151"/>
            <a:ext cx="1109625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88398" y="3847579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91969" y="3851151"/>
            <a:ext cx="1109737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8134" y="3847579"/>
            <a:ext cx="0" cy="450056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01706" y="3851151"/>
            <a:ext cx="1220800" cy="0"/>
          </a:xfrm>
          <a:prstGeom prst="line">
            <a:avLst/>
          </a:prstGeom>
          <a:noFill/>
          <a:ln w="7144">
            <a:solidFill>
              <a:srgbClr val="6366F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" y="371475"/>
            <a:ext cx="74716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00330" y="371475"/>
            <a:ext cx="762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Related Work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4350" y="692944"/>
            <a:ext cx="8115300" cy="33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exists, what’s missing</a:t>
            </a:r>
            <a:endParaRPr lang="en-US" sz="2363" dirty="0"/>
          </a:p>
        </p:txBody>
      </p:sp>
      <p:sp>
        <p:nvSpPr>
          <p:cNvPr id="72" name="Text 70"/>
          <p:cNvSpPr/>
          <p:nvPr/>
        </p:nvSpPr>
        <p:spPr>
          <a:xfrm>
            <a:off x="514350" y="1050801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Today’s categories each cover one slice. Req2UI spans all five.</a:t>
            </a:r>
            <a:endParaRPr lang="en-US" sz="956" dirty="0"/>
          </a:p>
        </p:txBody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18692"/>
            <a:ext cx="400050" cy="28575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517922" y="1650876"/>
            <a:ext cx="8108156" cy="2650331"/>
          </a:xfrm>
          <a:prstGeom prst="roundRect">
            <a:avLst>
              <a:gd name="adj" fmla="val 50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" y="1654448"/>
            <a:ext cx="2441377" cy="392906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521494" y="1654448"/>
            <a:ext cx="2441377" cy="502920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</a:t>
            </a:r>
            <a:endParaRPr lang="en-US" sz="800" dirty="0"/>
          </a:p>
        </p:txBody>
      </p:sp>
      <p:pic>
        <p:nvPicPr>
          <p:cNvPr id="7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870" y="1654448"/>
            <a:ext cx="1109737" cy="392906"/>
          </a:xfrm>
          <a:prstGeom prst="rect">
            <a:avLst/>
          </a:prstGeom>
        </p:spPr>
      </p:pic>
      <p:sp>
        <p:nvSpPr>
          <p:cNvPr id="78" name="Text 73"/>
          <p:cNvSpPr/>
          <p:nvPr/>
        </p:nvSpPr>
        <p:spPr>
          <a:xfrm>
            <a:off x="2962870" y="1654448"/>
            <a:ext cx="1109737" cy="392906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</a:t>
            </a:r>
            <a:endParaRPr lang="en-US" sz="800" dirty="0"/>
          </a:p>
        </p:txBody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607" y="1654448"/>
            <a:ext cx="1109737" cy="392906"/>
          </a:xfrm>
          <a:prstGeom prst="rect">
            <a:avLst/>
          </a:prstGeom>
        </p:spPr>
      </p:pic>
      <p:sp>
        <p:nvSpPr>
          <p:cNvPr id="80" name="Text 74"/>
          <p:cNvSpPr/>
          <p:nvPr/>
        </p:nvSpPr>
        <p:spPr>
          <a:xfrm>
            <a:off x="4072607" y="1654448"/>
            <a:ext cx="1109737" cy="392906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PROTOTYPE</a:t>
            </a:r>
            <a:endParaRPr lang="en-US" sz="800" dirty="0"/>
          </a:p>
        </p:txBody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344" y="1654448"/>
            <a:ext cx="1109625" cy="392906"/>
          </a:xfrm>
          <a:prstGeom prst="rect">
            <a:avLst/>
          </a:prstGeom>
        </p:spPr>
      </p:pic>
      <p:sp>
        <p:nvSpPr>
          <p:cNvPr id="82" name="Text 75"/>
          <p:cNvSpPr/>
          <p:nvPr/>
        </p:nvSpPr>
        <p:spPr>
          <a:xfrm>
            <a:off x="5182344" y="1654448"/>
            <a:ext cx="1109625" cy="392906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</a:t>
            </a:r>
            <a:endParaRPr lang="en-US" sz="800" dirty="0"/>
          </a:p>
        </p:txBody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969" y="1654448"/>
            <a:ext cx="1109737" cy="392906"/>
          </a:xfrm>
          <a:prstGeom prst="rect">
            <a:avLst/>
          </a:prstGeom>
        </p:spPr>
      </p:pic>
      <p:sp>
        <p:nvSpPr>
          <p:cNvPr id="84" name="Text 76"/>
          <p:cNvSpPr/>
          <p:nvPr/>
        </p:nvSpPr>
        <p:spPr>
          <a:xfrm>
            <a:off x="6291969" y="1654448"/>
            <a:ext cx="1109737" cy="392906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pic>
        <p:nvPicPr>
          <p:cNvPr id="8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1706" y="1654448"/>
            <a:ext cx="1220800" cy="392906"/>
          </a:xfrm>
          <a:prstGeom prst="rect">
            <a:avLst/>
          </a:prstGeom>
        </p:spPr>
      </p:pic>
      <p:sp>
        <p:nvSpPr>
          <p:cNvPr id="86" name="Text 77"/>
          <p:cNvSpPr/>
          <p:nvPr/>
        </p:nvSpPr>
        <p:spPr>
          <a:xfrm>
            <a:off x="7401706" y="1654448"/>
            <a:ext cx="1220800" cy="392906"/>
          </a:xfrm>
          <a:prstGeom prst="rect">
            <a:avLst/>
          </a:prstGeom>
          <a:noFill/>
          <a:ln/>
        </p:spPr>
        <p:txBody>
          <a:bodyPr wrap="none" lIns="128588" tIns="128588" rIns="128588" bIns="1285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E0E7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87" name="Text 78"/>
          <p:cNvSpPr/>
          <p:nvPr/>
        </p:nvSpPr>
        <p:spPr>
          <a:xfrm>
            <a:off x="650081" y="2191122"/>
            <a:ext cx="217705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 generators</a:t>
            </a:r>
            <a:endParaRPr lang="en-US" sz="816" dirty="0"/>
          </a:p>
        </p:txBody>
      </p:sp>
      <p:sp>
        <p:nvSpPr>
          <p:cNvPr id="88" name="Text 79"/>
          <p:cNvSpPr/>
          <p:nvPr/>
        </p:nvSpPr>
        <p:spPr>
          <a:xfrm>
            <a:off x="3424870" y="2179513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0"/>
          <p:cNvSpPr/>
          <p:nvPr/>
        </p:nvSpPr>
        <p:spPr>
          <a:xfrm>
            <a:off x="3421298" y="21759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0" name="Text 81"/>
          <p:cNvSpPr/>
          <p:nvPr/>
        </p:nvSpPr>
        <p:spPr>
          <a:xfrm>
            <a:off x="4534607" y="2179513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2"/>
          <p:cNvSpPr/>
          <p:nvPr/>
        </p:nvSpPr>
        <p:spPr>
          <a:xfrm>
            <a:off x="4531035" y="21759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92" name="Text 83"/>
          <p:cNvSpPr/>
          <p:nvPr/>
        </p:nvSpPr>
        <p:spPr>
          <a:xfrm>
            <a:off x="5644232" y="2179513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4"/>
          <p:cNvSpPr/>
          <p:nvPr/>
        </p:nvSpPr>
        <p:spPr>
          <a:xfrm>
            <a:off x="5640660" y="21759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94" name="Text 85"/>
          <p:cNvSpPr/>
          <p:nvPr/>
        </p:nvSpPr>
        <p:spPr>
          <a:xfrm>
            <a:off x="6753969" y="2179513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6"/>
          <p:cNvSpPr/>
          <p:nvPr/>
        </p:nvSpPr>
        <p:spPr>
          <a:xfrm>
            <a:off x="6750397" y="21759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96" name="Text 87"/>
          <p:cNvSpPr/>
          <p:nvPr/>
        </p:nvSpPr>
        <p:spPr>
          <a:xfrm>
            <a:off x="7922754" y="2179513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88"/>
          <p:cNvSpPr/>
          <p:nvPr/>
        </p:nvSpPr>
        <p:spPr>
          <a:xfrm>
            <a:off x="7919182" y="217594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98" name="Text 89"/>
          <p:cNvSpPr/>
          <p:nvPr/>
        </p:nvSpPr>
        <p:spPr>
          <a:xfrm>
            <a:off x="650081" y="2641178"/>
            <a:ext cx="217705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prototypers</a:t>
            </a:r>
            <a:endParaRPr lang="en-US" sz="816" dirty="0"/>
          </a:p>
        </p:txBody>
      </p:sp>
      <p:sp>
        <p:nvSpPr>
          <p:cNvPr id="99" name="Text 90"/>
          <p:cNvSpPr/>
          <p:nvPr/>
        </p:nvSpPr>
        <p:spPr>
          <a:xfrm>
            <a:off x="3424870" y="262957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1"/>
          <p:cNvSpPr/>
          <p:nvPr/>
        </p:nvSpPr>
        <p:spPr>
          <a:xfrm>
            <a:off x="3421298" y="262599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01" name="Text 92"/>
          <p:cNvSpPr/>
          <p:nvPr/>
        </p:nvSpPr>
        <p:spPr>
          <a:xfrm>
            <a:off x="4534607" y="262957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3"/>
          <p:cNvSpPr/>
          <p:nvPr/>
        </p:nvSpPr>
        <p:spPr>
          <a:xfrm>
            <a:off x="4531035" y="262599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03" name="Text 94"/>
          <p:cNvSpPr/>
          <p:nvPr/>
        </p:nvSpPr>
        <p:spPr>
          <a:xfrm>
            <a:off x="5644232" y="262957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5"/>
          <p:cNvSpPr/>
          <p:nvPr/>
        </p:nvSpPr>
        <p:spPr>
          <a:xfrm>
            <a:off x="5640660" y="262599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05" name="Text 96"/>
          <p:cNvSpPr/>
          <p:nvPr/>
        </p:nvSpPr>
        <p:spPr>
          <a:xfrm>
            <a:off x="6753969" y="262957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97"/>
          <p:cNvSpPr/>
          <p:nvPr/>
        </p:nvSpPr>
        <p:spPr>
          <a:xfrm>
            <a:off x="6750397" y="262599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07" name="Text 98"/>
          <p:cNvSpPr/>
          <p:nvPr/>
        </p:nvSpPr>
        <p:spPr>
          <a:xfrm>
            <a:off x="7922754" y="2629570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99"/>
          <p:cNvSpPr/>
          <p:nvPr/>
        </p:nvSpPr>
        <p:spPr>
          <a:xfrm>
            <a:off x="7919182" y="262599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09" name="Text 100"/>
          <p:cNvSpPr/>
          <p:nvPr/>
        </p:nvSpPr>
        <p:spPr>
          <a:xfrm>
            <a:off x="650081" y="3091235"/>
            <a:ext cx="217705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automators</a:t>
            </a:r>
            <a:endParaRPr lang="en-US" sz="816" dirty="0"/>
          </a:p>
        </p:txBody>
      </p:sp>
      <p:sp>
        <p:nvSpPr>
          <p:cNvPr id="110" name="Text 101"/>
          <p:cNvSpPr/>
          <p:nvPr/>
        </p:nvSpPr>
        <p:spPr>
          <a:xfrm>
            <a:off x="3424870" y="3079626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2"/>
          <p:cNvSpPr/>
          <p:nvPr/>
        </p:nvSpPr>
        <p:spPr>
          <a:xfrm>
            <a:off x="3421298" y="307605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12" name="Text 103"/>
          <p:cNvSpPr/>
          <p:nvPr/>
        </p:nvSpPr>
        <p:spPr>
          <a:xfrm>
            <a:off x="4534607" y="3079626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4"/>
          <p:cNvSpPr/>
          <p:nvPr/>
        </p:nvSpPr>
        <p:spPr>
          <a:xfrm>
            <a:off x="4531035" y="307605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14" name="Text 105"/>
          <p:cNvSpPr/>
          <p:nvPr/>
        </p:nvSpPr>
        <p:spPr>
          <a:xfrm>
            <a:off x="5644232" y="3079626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06"/>
          <p:cNvSpPr/>
          <p:nvPr/>
        </p:nvSpPr>
        <p:spPr>
          <a:xfrm>
            <a:off x="5640660" y="307605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16" name="Text 107"/>
          <p:cNvSpPr/>
          <p:nvPr/>
        </p:nvSpPr>
        <p:spPr>
          <a:xfrm>
            <a:off x="6753969" y="3079626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08"/>
          <p:cNvSpPr/>
          <p:nvPr/>
        </p:nvSpPr>
        <p:spPr>
          <a:xfrm>
            <a:off x="6750397" y="307605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18" name="Text 109"/>
          <p:cNvSpPr/>
          <p:nvPr/>
        </p:nvSpPr>
        <p:spPr>
          <a:xfrm>
            <a:off x="7922754" y="3079626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0"/>
          <p:cNvSpPr/>
          <p:nvPr/>
        </p:nvSpPr>
        <p:spPr>
          <a:xfrm>
            <a:off x="7919182" y="307605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20" name="Text 111"/>
          <p:cNvSpPr/>
          <p:nvPr/>
        </p:nvSpPr>
        <p:spPr>
          <a:xfrm>
            <a:off x="650081" y="3541291"/>
            <a:ext cx="217705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scanners</a:t>
            </a:r>
            <a:endParaRPr lang="en-US" sz="816" dirty="0"/>
          </a:p>
        </p:txBody>
      </p:sp>
      <p:sp>
        <p:nvSpPr>
          <p:cNvPr id="121" name="Text 112"/>
          <p:cNvSpPr/>
          <p:nvPr/>
        </p:nvSpPr>
        <p:spPr>
          <a:xfrm>
            <a:off x="3424870" y="35296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13"/>
          <p:cNvSpPr/>
          <p:nvPr/>
        </p:nvSpPr>
        <p:spPr>
          <a:xfrm>
            <a:off x="3421298" y="35261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23" name="Text 114"/>
          <p:cNvSpPr/>
          <p:nvPr/>
        </p:nvSpPr>
        <p:spPr>
          <a:xfrm>
            <a:off x="4534607" y="35296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15"/>
          <p:cNvSpPr/>
          <p:nvPr/>
        </p:nvSpPr>
        <p:spPr>
          <a:xfrm>
            <a:off x="4531035" y="35261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125" name="Text 116"/>
          <p:cNvSpPr/>
          <p:nvPr/>
        </p:nvSpPr>
        <p:spPr>
          <a:xfrm>
            <a:off x="5644232" y="35296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2563EB">
              <a:alpha val="14000"/>
            </a:srgbClr>
          </a:solidFill>
          <a:ln w="7144">
            <a:solidFill>
              <a:srgbClr val="2563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17"/>
          <p:cNvSpPr/>
          <p:nvPr/>
        </p:nvSpPr>
        <p:spPr>
          <a:xfrm>
            <a:off x="5640660" y="3526110"/>
            <a:ext cx="51557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93C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PARTIAL</a:t>
            </a:r>
            <a:endParaRPr lang="en-US" sz="800" dirty="0"/>
          </a:p>
        </p:txBody>
      </p:sp>
      <p:sp>
        <p:nvSpPr>
          <p:cNvPr id="127" name="Text 118"/>
          <p:cNvSpPr/>
          <p:nvPr/>
        </p:nvSpPr>
        <p:spPr>
          <a:xfrm>
            <a:off x="6753969" y="35296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19"/>
          <p:cNvSpPr/>
          <p:nvPr/>
        </p:nvSpPr>
        <p:spPr>
          <a:xfrm>
            <a:off x="6750397" y="35261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9" name="Text 120"/>
          <p:cNvSpPr/>
          <p:nvPr/>
        </p:nvSpPr>
        <p:spPr>
          <a:xfrm>
            <a:off x="7922754" y="35296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94A3B8">
              <a:alpha val="6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21"/>
          <p:cNvSpPr/>
          <p:nvPr/>
        </p:nvSpPr>
        <p:spPr>
          <a:xfrm>
            <a:off x="7919182" y="35261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pic>
        <p:nvPicPr>
          <p:cNvPr id="1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4" y="3847579"/>
            <a:ext cx="2441377" cy="450056"/>
          </a:xfrm>
          <a:prstGeom prst="rect">
            <a:avLst/>
          </a:prstGeom>
        </p:spPr>
      </p:pic>
      <p:sp>
        <p:nvSpPr>
          <p:cNvPr id="132" name="Text 122"/>
          <p:cNvSpPr/>
          <p:nvPr/>
        </p:nvSpPr>
        <p:spPr>
          <a:xfrm>
            <a:off x="1065758" y="4004072"/>
            <a:ext cx="324148" cy="150019"/>
          </a:xfrm>
          <a:prstGeom prst="roundRect">
            <a:avLst>
              <a:gd name="adj" fmla="val 6342847"/>
            </a:avLst>
          </a:prstGeom>
          <a:solidFill>
            <a:srgbClr val="6366F1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Text 123"/>
          <p:cNvSpPr/>
          <p:nvPr/>
        </p:nvSpPr>
        <p:spPr>
          <a:xfrm>
            <a:off x="650081" y="3998268"/>
            <a:ext cx="2177058" cy="168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 </a:t>
            </a:r>
            <a:pPr algn="l" indent="0" marL="0">
              <a:lnSpc>
                <a:spcPts val="1223"/>
              </a:lnSpc>
              <a:buNone/>
            </a:pPr>
            <a:r>
              <a:rPr lang="en-US" sz="800" b="1" spc="56" kern="0" dirty="0">
                <a:solidFill>
                  <a:srgbClr val="C7D2FE"/>
                </a:solidFill>
                <a:highlight>
                  <a:srgbClr val="6366F1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OURS</a:t>
            </a:r>
            <a:endParaRPr lang="en-US" sz="816" dirty="0"/>
          </a:p>
        </p:txBody>
      </p:sp>
      <p:pic>
        <p:nvPicPr>
          <p:cNvPr id="1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2870" y="3847579"/>
            <a:ext cx="1109737" cy="450056"/>
          </a:xfrm>
          <a:prstGeom prst="rect">
            <a:avLst/>
          </a:prstGeom>
        </p:spPr>
      </p:pic>
      <p:sp>
        <p:nvSpPr>
          <p:cNvPr id="135" name="Text 124"/>
          <p:cNvSpPr/>
          <p:nvPr/>
        </p:nvSpPr>
        <p:spPr>
          <a:xfrm>
            <a:off x="3424870" y="39868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 125"/>
          <p:cNvSpPr/>
          <p:nvPr/>
        </p:nvSpPr>
        <p:spPr>
          <a:xfrm>
            <a:off x="3421298" y="39833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pic>
        <p:nvPicPr>
          <p:cNvPr id="1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2607" y="3847579"/>
            <a:ext cx="1109737" cy="450056"/>
          </a:xfrm>
          <a:prstGeom prst="rect">
            <a:avLst/>
          </a:prstGeom>
        </p:spPr>
      </p:pic>
      <p:sp>
        <p:nvSpPr>
          <p:cNvPr id="138" name="Text 126"/>
          <p:cNvSpPr/>
          <p:nvPr/>
        </p:nvSpPr>
        <p:spPr>
          <a:xfrm>
            <a:off x="4534607" y="39868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27"/>
          <p:cNvSpPr/>
          <p:nvPr/>
        </p:nvSpPr>
        <p:spPr>
          <a:xfrm>
            <a:off x="4531035" y="39833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pic>
        <p:nvPicPr>
          <p:cNvPr id="1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2344" y="3847579"/>
            <a:ext cx="1109625" cy="450056"/>
          </a:xfrm>
          <a:prstGeom prst="rect">
            <a:avLst/>
          </a:prstGeom>
        </p:spPr>
      </p:pic>
      <p:sp>
        <p:nvSpPr>
          <p:cNvPr id="141" name="Text 128"/>
          <p:cNvSpPr/>
          <p:nvPr/>
        </p:nvSpPr>
        <p:spPr>
          <a:xfrm>
            <a:off x="5644232" y="39868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29"/>
          <p:cNvSpPr/>
          <p:nvPr/>
        </p:nvSpPr>
        <p:spPr>
          <a:xfrm>
            <a:off x="5640660" y="39833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pic>
        <p:nvPicPr>
          <p:cNvPr id="1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969" y="3847579"/>
            <a:ext cx="1109737" cy="450056"/>
          </a:xfrm>
          <a:prstGeom prst="rect">
            <a:avLst/>
          </a:prstGeom>
        </p:spPr>
      </p:pic>
      <p:sp>
        <p:nvSpPr>
          <p:cNvPr id="144" name="Text 130"/>
          <p:cNvSpPr/>
          <p:nvPr/>
        </p:nvSpPr>
        <p:spPr>
          <a:xfrm>
            <a:off x="6753969" y="39868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31"/>
          <p:cNvSpPr/>
          <p:nvPr/>
        </p:nvSpPr>
        <p:spPr>
          <a:xfrm>
            <a:off x="6750397" y="39833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pic>
        <p:nvPicPr>
          <p:cNvPr id="1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1706" y="3847579"/>
            <a:ext cx="1220800" cy="450056"/>
          </a:xfrm>
          <a:prstGeom prst="rect">
            <a:avLst/>
          </a:prstGeom>
        </p:spPr>
      </p:pic>
      <p:sp>
        <p:nvSpPr>
          <p:cNvPr id="147" name="Text 132"/>
          <p:cNvSpPr/>
          <p:nvPr/>
        </p:nvSpPr>
        <p:spPr>
          <a:xfrm>
            <a:off x="7922754" y="3986882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Text 133"/>
          <p:cNvSpPr/>
          <p:nvPr/>
        </p:nvSpPr>
        <p:spPr>
          <a:xfrm>
            <a:off x="7919182" y="398331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49" name="Text 134"/>
          <p:cNvSpPr/>
          <p:nvPr/>
        </p:nvSpPr>
        <p:spPr>
          <a:xfrm>
            <a:off x="514350" y="443336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integrated</a:t>
            </a:r>
            <a:pPr algn="ctr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NL → SRS → UI → functional + security tests pipeline with auto security generation and full traceability.</a:t>
            </a:r>
            <a:endParaRPr lang="en-US" sz="800" dirty="0"/>
          </a:p>
        </p:txBody>
      </p:sp>
      <p:sp>
        <p:nvSpPr>
          <p:cNvPr id="150" name="Text 13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Text 13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152" name="Text 13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115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40204" y="371475"/>
            <a:ext cx="513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115300" cy="32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5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input. A complete, security-aware artifact suite.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14350" y="1048680"/>
            <a:ext cx="65722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natural-language description drives a 10-stage AI pipeline that emits every artifact a spec phase needs.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16571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77330"/>
            <a:ext cx="2431219" cy="1720193"/>
          </a:xfrm>
          <a:prstGeom prst="roundRect">
            <a:avLst>
              <a:gd name="adj" fmla="val 885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254" y="1870426"/>
            <a:ext cx="585636" cy="196025"/>
          </a:xfrm>
          <a:prstGeom prst="roundRect">
            <a:avLst>
              <a:gd name="adj" fmla="val 485421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2944" y="1880927"/>
            <a:ext cx="542255" cy="175022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6516" y="2173821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7592" y="221489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2109" dirty="0"/>
          </a:p>
        </p:txBody>
      </p:sp>
      <p:sp>
        <p:nvSpPr>
          <p:cNvPr id="13" name="Text 10"/>
          <p:cNvSpPr/>
          <p:nvPr/>
        </p:nvSpPr>
        <p:spPr>
          <a:xfrm>
            <a:off x="692944" y="2684599"/>
            <a:ext cx="1481993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11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Natural Language Input</a:t>
            </a:r>
            <a:endParaRPr lang="en-US" sz="1069" dirty="0"/>
          </a:p>
        </p:txBody>
      </p:sp>
      <p:sp>
        <p:nvSpPr>
          <p:cNvPr id="14" name="Text 11"/>
          <p:cNvSpPr/>
          <p:nvPr/>
        </p:nvSpPr>
        <p:spPr>
          <a:xfrm>
            <a:off x="692944" y="2918892"/>
            <a:ext cx="196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describes the system in plain English.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024150" y="240883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2531" dirty="0"/>
          </a:p>
        </p:txBody>
      </p:sp>
      <p:sp>
        <p:nvSpPr>
          <p:cNvPr id="16" name="Text 13"/>
          <p:cNvSpPr/>
          <p:nvPr/>
        </p:nvSpPr>
        <p:spPr>
          <a:xfrm>
            <a:off x="3356335" y="1677330"/>
            <a:ext cx="2431331" cy="1720193"/>
          </a:xfrm>
          <a:prstGeom prst="roundRect">
            <a:avLst>
              <a:gd name="adj" fmla="val 885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509666" y="1870426"/>
            <a:ext cx="585636" cy="196025"/>
          </a:xfrm>
          <a:prstGeom prst="roundRect">
            <a:avLst>
              <a:gd name="adj" fmla="val 485421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531357" y="1880927"/>
            <a:ext cx="542255" cy="175022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34928" y="2173821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576005" y="221489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2109" dirty="0"/>
          </a:p>
        </p:txBody>
      </p:sp>
      <p:sp>
        <p:nvSpPr>
          <p:cNvPr id="21" name="Text 18"/>
          <p:cNvSpPr/>
          <p:nvPr/>
        </p:nvSpPr>
        <p:spPr>
          <a:xfrm>
            <a:off x="3531357" y="2684599"/>
            <a:ext cx="1378973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11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10-Stage AI Pipeline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3531357" y="2918892"/>
            <a:ext cx="21008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Groq + Gemini generate artifacts concurrently.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62675" y="240883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2531" dirty="0"/>
          </a:p>
        </p:txBody>
      </p:sp>
      <p:sp>
        <p:nvSpPr>
          <p:cNvPr id="24" name="Text 21"/>
          <p:cNvSpPr/>
          <p:nvPr/>
        </p:nvSpPr>
        <p:spPr>
          <a:xfrm>
            <a:off x="6194859" y="1677330"/>
            <a:ext cx="2431219" cy="1720193"/>
          </a:xfrm>
          <a:prstGeom prst="roundRect">
            <a:avLst>
              <a:gd name="adj" fmla="val 885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348191" y="1870426"/>
            <a:ext cx="585636" cy="196025"/>
          </a:xfrm>
          <a:prstGeom prst="roundRect">
            <a:avLst>
              <a:gd name="adj" fmla="val 485421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369881" y="1880927"/>
            <a:ext cx="542255" cy="175022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373453" y="2173821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414529" y="221489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2109" dirty="0"/>
          </a:p>
        </p:txBody>
      </p:sp>
      <p:sp>
        <p:nvSpPr>
          <p:cNvPr id="29" name="Text 26"/>
          <p:cNvSpPr/>
          <p:nvPr/>
        </p:nvSpPr>
        <p:spPr>
          <a:xfrm>
            <a:off x="6369881" y="2684599"/>
            <a:ext cx="873485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11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Artifact Suite</a:t>
            </a:r>
            <a:endParaRPr lang="en-US" sz="1069" dirty="0"/>
          </a:p>
        </p:txBody>
      </p:sp>
      <p:sp>
        <p:nvSpPr>
          <p:cNvPr id="30" name="Text 27"/>
          <p:cNvSpPr/>
          <p:nvPr/>
        </p:nvSpPr>
        <p:spPr>
          <a:xfrm>
            <a:off x="6369881" y="2918892"/>
            <a:ext cx="20811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SRS · Tests · UML · UI code · Traceability · Exports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3561829"/>
            <a:ext cx="8108156" cy="432197"/>
          </a:xfrm>
          <a:prstGeom prst="roundRect">
            <a:avLst>
              <a:gd name="adj" fmla="val 26446"/>
            </a:avLst>
          </a:prstGeom>
          <a:solidFill>
            <a:srgbClr val="6366F1">
              <a:alpha val="5000"/>
            </a:srgbClr>
          </a:solidFill>
          <a:ln w="7144">
            <a:solidFill>
              <a:srgbClr val="6366F1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094472" y="3718992"/>
            <a:ext cx="7759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AS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707414" y="3652612"/>
            <a:ext cx="406015" cy="250631"/>
          </a:xfrm>
          <a:prstGeom prst="roundRect">
            <a:avLst>
              <a:gd name="adj" fmla="val 3796607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722452" y="3665413"/>
            <a:ext cx="375940" cy="225028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198404" y="371363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301761" y="3652612"/>
            <a:ext cx="464241" cy="250631"/>
          </a:xfrm>
          <a:prstGeom prst="roundRect">
            <a:avLst>
              <a:gd name="adj" fmla="val 3796607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318955" y="3665413"/>
            <a:ext cx="429853" cy="225028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DOCX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48820" y="371363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950025" y="3652612"/>
            <a:ext cx="522347" cy="250631"/>
          </a:xfrm>
          <a:prstGeom prst="roundRect">
            <a:avLst>
              <a:gd name="adj" fmla="val 3796607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969371" y="3665413"/>
            <a:ext cx="483654" cy="225028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LaTeX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553038" y="371363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658551" y="3652612"/>
            <a:ext cx="406015" cy="250631"/>
          </a:xfrm>
          <a:prstGeom prst="roundRect">
            <a:avLst>
              <a:gd name="adj" fmla="val 3796607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673589" y="3665413"/>
            <a:ext cx="375940" cy="225028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5337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62392" y="371475"/>
            <a:ext cx="687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Layered architecture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SPA → Express API → Groq / Gemini → Neon Postgres.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4911328" cy="3455343"/>
          </a:xfrm>
          <a:prstGeom prst="roundRect">
            <a:avLst>
              <a:gd name="adj" fmla="val 3308"/>
            </a:avLst>
          </a:prstGeom>
          <a:solidFill>
            <a:srgbClr val="F8FAFC"/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266700" dist="76200" dir="5400000">
              <a:srgbClr val="020617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h2p-fit-1782283734416-6eyvm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750219"/>
            <a:ext cx="4732734" cy="32767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5176986"/>
            <a:ext cx="53119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Figure 5.1 — Architecture diagram (from thesis).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618559" y="1660922"/>
            <a:ext cx="3007407" cy="808583"/>
          </a:xfrm>
          <a:prstGeom prst="roundRect">
            <a:avLst>
              <a:gd name="adj" fmla="val 1413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40003" y="176807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747861" y="177593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14" name="Text 10"/>
          <p:cNvSpPr/>
          <p:nvPr/>
        </p:nvSpPr>
        <p:spPr>
          <a:xfrm>
            <a:off x="6093619" y="1764506"/>
            <a:ext cx="2414476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93619" y="1896666"/>
            <a:ext cx="2414476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 SPA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093619" y="2096691"/>
            <a:ext cx="24144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 app with Tailwind v4, Vite, React Router 7. SSE listener streams live pipeline progress.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618559" y="2567732"/>
            <a:ext cx="3007407" cy="808583"/>
          </a:xfrm>
          <a:prstGeom prst="roundRect">
            <a:avLst>
              <a:gd name="adj" fmla="val 1413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740003" y="267488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747861" y="268274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0" name="Text 16"/>
          <p:cNvSpPr/>
          <p:nvPr/>
        </p:nvSpPr>
        <p:spPr>
          <a:xfrm>
            <a:off x="6093619" y="2671316"/>
            <a:ext cx="2414476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093619" y="2803475"/>
            <a:ext cx="2414476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Express 4 API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093619" y="3003500"/>
            <a:ext cx="24144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 service orchestrating the 10-stage pipeline. JWT auth, Zod validation, Helmet, rate limiting.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618559" y="3474541"/>
            <a:ext cx="3007407" cy="808583"/>
          </a:xfrm>
          <a:prstGeom prst="roundRect">
            <a:avLst>
              <a:gd name="adj" fmla="val 1413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740003" y="3581698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747861" y="358955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6" name="Text 22"/>
          <p:cNvSpPr/>
          <p:nvPr/>
        </p:nvSpPr>
        <p:spPr>
          <a:xfrm>
            <a:off x="6093619" y="3578126"/>
            <a:ext cx="2414476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093619" y="3710285"/>
            <a:ext cx="2414476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on Neon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093619" y="3910310"/>
            <a:ext cx="24144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Serverless Postgres. Every artifact persisted keyed by (project, type) for resumability.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25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54157" y="371475"/>
            <a:ext cx="495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10-stage pipeline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62965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natural language to runnable artifacts.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5078" y="1768078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1506" y="17645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021681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 Extraction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1506" y="2194024"/>
            <a:ext cx="1416034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 NL input; emit IEEE-830 narrative (abstract, scope, objectives).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59198" y="1660922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66355" y="1768078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62783" y="17645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62783" y="2021681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Functional Requirements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2262783" y="2194024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IEEE-830 “The system shall…” statements.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00475" y="1660922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907631" y="1768078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904059" y="17645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04059" y="2021681"/>
            <a:ext cx="1416034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Non-Functional Requirements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3904059" y="2194024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Performance, usability, reliability — with measurable metrics.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41752" y="1660922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48908" y="1768078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45336" y="17645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45336" y="2021681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Requirements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5545336" y="2194024"/>
            <a:ext cx="141603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Mapped to OWASP Top 10 (2021).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083028" y="1660922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190184" y="1768078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186613" y="17645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86613" y="2021681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Functional Test Cases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7186613" y="2194024"/>
            <a:ext cx="141603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IEEE-829 structured test cases.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922" y="3006626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5078" y="3113782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1506" y="31102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1506" y="3367385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 Cases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621506" y="3539728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Attack-vector driven, OWASP-aligned.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159198" y="3006626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266355" y="3113782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262783" y="31102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262783" y="3367385"/>
            <a:ext cx="1416034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Wireframe Descriptions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2262783" y="3539728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Per-screen layout &amp; component description.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800475" y="3006626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907631" y="3113782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904059" y="31102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904059" y="3367385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 Matrix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3904059" y="3539728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 ↔ test ↔ security, with coverage %.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441752" y="3006626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548908" y="3113782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545336" y="31102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545336" y="3367385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 Diagrams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5545336" y="3539728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Use-case, class, sequence — emitted as Mermaid.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083028" y="3006626"/>
            <a:ext cx="1543050" cy="1247477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7190184" y="3113782"/>
            <a:ext cx="207169" cy="207169"/>
          </a:xfrm>
          <a:prstGeom prst="ellipse">
            <a:avLst/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7186613" y="31102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186613" y="3367385"/>
            <a:ext cx="13358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Runnable UI Code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7186613" y="3539728"/>
            <a:ext cx="141603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 + Tailwind per screen, two-pass generation.</a:t>
            </a:r>
            <a:endParaRPr lang="en-US" sz="80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357688"/>
            <a:ext cx="8115300" cy="328613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17922" y="4361259"/>
            <a:ext cx="8108156" cy="321469"/>
          </a:xfrm>
          <a:prstGeom prst="roundRect">
            <a:avLst>
              <a:gd name="adj" fmla="val 29630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635794" y="4436269"/>
            <a:ext cx="4404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61" name="Text 57"/>
          <p:cNvSpPr/>
          <p:nvPr/>
        </p:nvSpPr>
        <p:spPr>
          <a:xfrm>
            <a:off x="1133401" y="4457700"/>
            <a:ext cx="197751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Stages 3–5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parallel ·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6–7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parallel ·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8–10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parallel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008313" y="4436269"/>
            <a:ext cx="3950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63" name="Text 59"/>
          <p:cNvSpPr/>
          <p:nvPr/>
        </p:nvSpPr>
        <p:spPr>
          <a:xfrm>
            <a:off x="4460491" y="4457700"/>
            <a:ext cx="134245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Stages 1–9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Groq llama-3.3-70b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6747383" y="4436269"/>
            <a:ext cx="239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5" name="Text 61"/>
          <p:cNvSpPr/>
          <p:nvPr/>
        </p:nvSpPr>
        <p:spPr>
          <a:xfrm>
            <a:off x="7044184" y="4457700"/>
            <a:ext cx="155186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10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Google Gemini 2.5-flash-lite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2676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96287" y="371475"/>
            <a:ext cx="10095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Two-LLM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LLMs, one pipeline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62965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owns what it's best at.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3959423" cy="2782491"/>
          </a:xfrm>
          <a:prstGeom prst="roundRect">
            <a:avLst>
              <a:gd name="adj" fmla="val 547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  <a:effectLst>
            <a:outerShdw sx="100000" sy="100000" kx="0" ky="0" algn="bl" rotWithShape="0" blurRad="228600" dist="57150" dir="5400000">
              <a:srgbClr val="02061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" y="1664494"/>
            <a:ext cx="3952280" cy="428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7231" y="1864519"/>
            <a:ext cx="3766542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Groq</a:t>
            </a:r>
            <a:endParaRPr lang="en-US" sz="2025" dirty="0"/>
          </a:p>
        </p:txBody>
      </p:sp>
      <p:sp>
        <p:nvSpPr>
          <p:cNvPr id="11" name="Text 7"/>
          <p:cNvSpPr/>
          <p:nvPr/>
        </p:nvSpPr>
        <p:spPr>
          <a:xfrm>
            <a:off x="707231" y="2150269"/>
            <a:ext cx="38672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llama-3.3-70b-versatile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07231" y="2436019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21531" y="2378869"/>
            <a:ext cx="3466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stages 1–9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narrative, requirements, tests, traceability, UML as Mermaid.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07231" y="2811959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21531" y="2754809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inference on Groq's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LPU tier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keeps the pipeline responsive.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07231" y="3037880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21531" y="2980730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JSON output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downstream parsing &amp; validation.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07231" y="3263801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21531" y="3206651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Cost-efficient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high-volume text generation.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66655" y="1660922"/>
            <a:ext cx="3959423" cy="2782491"/>
          </a:xfrm>
          <a:prstGeom prst="roundRect">
            <a:avLst>
              <a:gd name="adj" fmla="val 547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  <a:effectLst>
            <a:outerShdw sx="100000" sy="100000" kx="0" ky="0" algn="bl" rotWithShape="0" blurRad="228600" dist="57150" dir="5400000">
              <a:srgbClr val="02061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227" y="1664494"/>
            <a:ext cx="3952280" cy="428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55964" y="1864519"/>
            <a:ext cx="3766542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Gemini</a:t>
            </a:r>
            <a:endParaRPr lang="en-US" sz="2025" dirty="0"/>
          </a:p>
        </p:txBody>
      </p:sp>
      <p:sp>
        <p:nvSpPr>
          <p:cNvPr id="23" name="Text 18"/>
          <p:cNvSpPr/>
          <p:nvPr/>
        </p:nvSpPr>
        <p:spPr>
          <a:xfrm>
            <a:off x="4855964" y="2150269"/>
            <a:ext cx="37665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2.5-flash-lite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855964" y="2436019"/>
            <a:ext cx="42863" cy="42863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50800" dir="16200000">
              <a:srgbClr val="2563EB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970264" y="2378869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10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runnable UI code generation.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55964" y="2661940"/>
            <a:ext cx="42863" cy="42863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50800" dir="16200000">
              <a:srgbClr val="2563EB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970264" y="2604790"/>
            <a:ext cx="3466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Two-pass strategy: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shared design system first, then one HTML page per distinct screen.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855964" y="3037880"/>
            <a:ext cx="42863" cy="42863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50800" dir="16200000">
              <a:srgbClr val="2563EB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970264" y="2980730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code-generation quality at a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fraction of the cost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larger models.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855964" y="3263801"/>
            <a:ext cx="42863" cy="42863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50800" dir="16200000">
              <a:srgbClr val="2563EB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970264" y="3206651"/>
            <a:ext cx="34665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Produces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Tailwind-styled, runnable HTML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out of the box.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14350" y="454699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router dispatches each stage to its assigned model — 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manual handoff</a:t>
            </a:r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5237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52346" y="371475"/>
            <a:ext cx="6993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Concurrency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1153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Parallel stages, resumable runs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Independent stages run concurrently; failures pick up where they stopped.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8108156" cy="2150269"/>
          </a:xfrm>
          <a:prstGeom prst="roundRect">
            <a:avLst>
              <a:gd name="adj" fmla="val 6202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8656" y="1839516"/>
            <a:ext cx="1648409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1971675"/>
            <a:ext cx="1423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Sequential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970246" y="1823142"/>
            <a:ext cx="661310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993106" y="1835944"/>
            <a:ext cx="61559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78719" y="2146697"/>
            <a:ext cx="72866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678656" y="2350294"/>
            <a:ext cx="1648409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8656" y="2482453"/>
            <a:ext cx="1423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Parallel after 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70000" y="1823142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82586" y="1835944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55000" y="1866000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1980520" y="2333920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993107" y="2346722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364916" y="2384227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2440287" y="2333920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452874" y="2346722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824684" y="2384227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2900055" y="2333920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912641" y="2346722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78719" y="2657475"/>
            <a:ext cx="72866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678656" y="2861072"/>
            <a:ext cx="1648409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C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78656" y="2993231"/>
            <a:ext cx="1423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Parallel after 05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980520" y="2844698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993106" y="2857500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364916" y="2895005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013" dirty="0"/>
          </a:p>
        </p:txBody>
      </p:sp>
      <p:sp>
        <p:nvSpPr>
          <p:cNvPr id="33" name="Text 30"/>
          <p:cNvSpPr/>
          <p:nvPr/>
        </p:nvSpPr>
        <p:spPr>
          <a:xfrm>
            <a:off x="2440287" y="2844698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452874" y="2857500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78719" y="3168253"/>
            <a:ext cx="728662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678656" y="3371850"/>
            <a:ext cx="1648409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78656" y="3504009"/>
            <a:ext cx="1423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Parallel after 07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980520" y="3355477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993106" y="3368278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364916" y="3405783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013" dirty="0"/>
          </a:p>
        </p:txBody>
      </p:sp>
      <p:sp>
        <p:nvSpPr>
          <p:cNvPr id="41" name="Text 38"/>
          <p:cNvSpPr/>
          <p:nvPr/>
        </p:nvSpPr>
        <p:spPr>
          <a:xfrm>
            <a:off x="2440287" y="3355477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452874" y="3368278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824683" y="3405783"/>
            <a:ext cx="9144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013" dirty="0"/>
          </a:p>
        </p:txBody>
      </p:sp>
      <p:sp>
        <p:nvSpPr>
          <p:cNvPr id="44" name="Text 41"/>
          <p:cNvSpPr/>
          <p:nvPr/>
        </p:nvSpPr>
        <p:spPr>
          <a:xfrm>
            <a:off x="2900054" y="3355477"/>
            <a:ext cx="339833" cy="293494"/>
          </a:xfrm>
          <a:prstGeom prst="roundRect">
            <a:avLst>
              <a:gd name="adj" fmla="val 25963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133350" dist="50800" dir="16200000">
              <a:srgbClr val="6366F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2912641" y="3368278"/>
            <a:ext cx="314660" cy="267891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17922" y="3918347"/>
            <a:ext cx="2616957" cy="619944"/>
          </a:xfrm>
          <a:prstGeom prst="roundRect">
            <a:avLst>
              <a:gd name="adj" fmla="val 1843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639366" y="402550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40080" y="40262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978694" y="4021931"/>
            <a:ext cx="172603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Persisted artifacts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978694" y="4186238"/>
            <a:ext cx="177535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artifact saved keyed by (project, type).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263466" y="3918347"/>
            <a:ext cx="2616957" cy="619944"/>
          </a:xfrm>
          <a:prstGeom prst="roundRect">
            <a:avLst>
              <a:gd name="adj" fmla="val 1843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384910" y="402550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3385624" y="40262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688" dirty="0"/>
          </a:p>
        </p:txBody>
      </p:sp>
      <p:sp>
        <p:nvSpPr>
          <p:cNvPr id="54" name="Text 51"/>
          <p:cNvSpPr/>
          <p:nvPr/>
        </p:nvSpPr>
        <p:spPr>
          <a:xfrm>
            <a:off x="3724238" y="4021931"/>
            <a:ext cx="203831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 on failure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724238" y="4186238"/>
            <a:ext cx="203831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Interrupted runs pick up from the last saved stage — no re-do.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009010" y="3918347"/>
            <a:ext cx="2617068" cy="619944"/>
          </a:xfrm>
          <a:prstGeom prst="roundRect">
            <a:avLst>
              <a:gd name="adj" fmla="val 18437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130454" y="402550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131168" y="402621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9" name="Text 56"/>
          <p:cNvSpPr/>
          <p:nvPr/>
        </p:nvSpPr>
        <p:spPr>
          <a:xfrm>
            <a:off x="6469782" y="4021931"/>
            <a:ext cx="203842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progress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469782" y="4186238"/>
            <a:ext cx="2046711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pushed to the browser in real time via SSE.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21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50138" y="371475"/>
            <a:ext cx="5007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Security, not bolted on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 Top 10 (2021) requirements auto-generated in stage 4; auth stack hardened end-to-end.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75184"/>
            <a:ext cx="400050" cy="285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646634"/>
            <a:ext cx="4014788" cy="9996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7922" y="1650206"/>
            <a:ext cx="4007644" cy="992535"/>
          </a:xfrm>
          <a:prstGeom prst="roundRect">
            <a:avLst>
              <a:gd name="adj" fmla="val 11516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82228" y="1800225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6366F1">
              <a:alpha val="2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0801" y="180879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2" name="Text 8"/>
          <p:cNvSpPr/>
          <p:nvPr/>
        </p:nvSpPr>
        <p:spPr>
          <a:xfrm>
            <a:off x="1045282" y="1861804"/>
            <a:ext cx="516681" cy="184023"/>
          </a:xfrm>
          <a:prstGeom prst="roundRect">
            <a:avLst>
              <a:gd name="adj" fmla="val 5170807"/>
            </a:avLst>
          </a:prstGeom>
          <a:solidFill>
            <a:srgbClr val="6366F1">
              <a:alpha val="2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064419" y="1871663"/>
            <a:ext cx="478408" cy="164306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4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78656" y="2153841"/>
            <a:ext cx="3795903" cy="183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OWASP-mapped requirements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678656" y="2366367"/>
            <a:ext cx="3686175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4 auto-generates security requirements aligned to OWASP Top 10 (2021).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18434" y="1650206"/>
            <a:ext cx="1957388" cy="992535"/>
          </a:xfrm>
          <a:prstGeom prst="roundRect">
            <a:avLst>
              <a:gd name="adj" fmla="val 1151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39878" y="175736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40593" y="175807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88" dirty="0"/>
          </a:p>
        </p:txBody>
      </p:sp>
      <p:sp>
        <p:nvSpPr>
          <p:cNvPr id="19" name="Text 15"/>
          <p:cNvSpPr/>
          <p:nvPr/>
        </p:nvSpPr>
        <p:spPr>
          <a:xfrm>
            <a:off x="4736306" y="2053828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access tokens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736306" y="2221706"/>
            <a:ext cx="17216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15-minute TTL; signed and verified on every request.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668691" y="1650206"/>
            <a:ext cx="1957388" cy="992535"/>
          </a:xfrm>
          <a:prstGeom prst="roundRect">
            <a:avLst>
              <a:gd name="adj" fmla="val 1151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790134" y="175736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790849" y="175807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24" name="Text 20"/>
          <p:cNvSpPr/>
          <p:nvPr/>
        </p:nvSpPr>
        <p:spPr>
          <a:xfrm>
            <a:off x="6786563" y="2053828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Rotating refresh tokens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786563" y="2221706"/>
            <a:ext cx="172164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7-day TTL, SHA-256 hashed, with token-family theft detection.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17922" y="2735610"/>
            <a:ext cx="1957388" cy="939180"/>
          </a:xfrm>
          <a:prstGeom prst="roundRect">
            <a:avLst>
              <a:gd name="adj" fmla="val 12170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39366" y="28427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40080" y="28434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88" dirty="0"/>
          </a:p>
        </p:txBody>
      </p:sp>
      <p:sp>
        <p:nvSpPr>
          <p:cNvPr id="29" name="Text 25"/>
          <p:cNvSpPr/>
          <p:nvPr/>
        </p:nvSpPr>
        <p:spPr>
          <a:xfrm>
            <a:off x="635794" y="3139232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 password hashing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5794" y="3307110"/>
            <a:ext cx="182494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factor 12; salts managed by bcrypt.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568178" y="2735610"/>
            <a:ext cx="1957388" cy="939180"/>
          </a:xfrm>
          <a:prstGeom prst="roundRect">
            <a:avLst>
              <a:gd name="adj" fmla="val 12170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689622" y="28427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690336" y="28434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688" dirty="0"/>
          </a:p>
        </p:txBody>
      </p:sp>
      <p:sp>
        <p:nvSpPr>
          <p:cNvPr id="34" name="Text 30"/>
          <p:cNvSpPr/>
          <p:nvPr/>
        </p:nvSpPr>
        <p:spPr>
          <a:xfrm>
            <a:off x="2686050" y="3139232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lockout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686050" y="3307110"/>
            <a:ext cx="1721644" cy="26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failed logins → temporary lockout + audit entry.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618434" y="2735610"/>
            <a:ext cx="1957388" cy="939180"/>
          </a:xfrm>
          <a:prstGeom prst="roundRect">
            <a:avLst>
              <a:gd name="adj" fmla="val 12170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739878" y="28427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740593" y="28434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9" name="Text 35"/>
          <p:cNvSpPr/>
          <p:nvPr/>
        </p:nvSpPr>
        <p:spPr>
          <a:xfrm>
            <a:off x="4736306" y="3139232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Helmet + CORS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736306" y="3307110"/>
            <a:ext cx="182494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headers + strict CORS allow-list.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668691" y="2735610"/>
            <a:ext cx="1957388" cy="939180"/>
          </a:xfrm>
          <a:prstGeom prst="roundRect">
            <a:avLst>
              <a:gd name="adj" fmla="val 12170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790134" y="28427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790849" y="284348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44" name="Text 40"/>
          <p:cNvSpPr/>
          <p:nvPr/>
        </p:nvSpPr>
        <p:spPr>
          <a:xfrm>
            <a:off x="6786563" y="3139232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Zod input validation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786563" y="3307110"/>
            <a:ext cx="1721644" cy="26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API route validates its payload with Zod schemas.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517922" y="3767658"/>
            <a:ext cx="1957388" cy="915070"/>
          </a:xfrm>
          <a:prstGeom prst="roundRect">
            <a:avLst>
              <a:gd name="adj" fmla="val 1249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39366" y="387481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640080" y="387552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9" name="Text 45"/>
          <p:cNvSpPr/>
          <p:nvPr/>
        </p:nvSpPr>
        <p:spPr>
          <a:xfrm>
            <a:off x="635794" y="4171280"/>
            <a:ext cx="1721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limiting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635794" y="4339158"/>
            <a:ext cx="17216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+ generation endpoints throttled to prevent abuse.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3895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18177" y="371475"/>
            <a:ext cx="861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 + UI Code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486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Diagrams and runnable UI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Mermaid → PNG for UML; HTML + Tailwind per screen for UI.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3562722" cy="3708276"/>
          </a:xfrm>
          <a:prstGeom prst="roundRect">
            <a:avLst>
              <a:gd name="adj" fmla="val 3208"/>
            </a:avLst>
          </a:prstGeom>
          <a:solidFill>
            <a:srgbClr val="F8FAFC"/>
          </a:solidFill>
          <a:ln w="7144">
            <a:solidFill>
              <a:srgbClr val="6366F1"/>
            </a:solidFill>
            <a:prstDash val="solid"/>
          </a:ln>
          <a:effectLst>
            <a:outerShdw sx="100000" sy="100000" kx="0" ky="0" algn="bl" rotWithShape="0" blurRad="266700" dist="76200" dir="5400000">
              <a:srgbClr val="020617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h2p-fit-1782283735775-s5rb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750219"/>
            <a:ext cx="3384128" cy="352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5429920"/>
            <a:ext cx="385545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Figure 5.3 — Class diagram (from thesis).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269953" y="1660922"/>
            <a:ext cx="4356013" cy="828675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388910" y="1767435"/>
            <a:ext cx="356469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402113" y="1778794"/>
            <a:ext cx="330064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803614" y="1809155"/>
            <a:ext cx="36901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Use-case · class · sequence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402113" y="2082403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16413" y="2025253"/>
            <a:ext cx="3977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Use-case, class, and sequence diagrams emitted as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Mermaid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402113" y="2284214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16413" y="2227064"/>
            <a:ext cx="3977394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Rasterized to PNG via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resvg-js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embedding in PDF exports.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269953" y="2618184"/>
            <a:ext cx="4356013" cy="1175147"/>
          </a:xfrm>
          <a:prstGeom prst="roundRect">
            <a:avLst>
              <a:gd name="adj" fmla="val 9726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379253" y="2724698"/>
            <a:ext cx="1022739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402113" y="2736056"/>
            <a:ext cx="977019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UI CODE (STAGE 10)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450570" y="2766417"/>
            <a:ext cx="304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Two-pass strategy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02113" y="3039666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516413" y="2982516"/>
            <a:ext cx="3977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Pass 1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generate a shared design system: colors, typography, spacing, components.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402113" y="3241477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16413" y="3184327"/>
            <a:ext cx="3977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Pass 2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emit one HTML + Tailwind page per distinct screen, all consuming the design system.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02113" y="3587948"/>
            <a:ext cx="42863" cy="42863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50800" dir="16200000">
              <a:srgbClr val="6366F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16413" y="3530798"/>
            <a:ext cx="3977394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low-fidelity but consistent and runnable UI prototype.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5616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90297" y="371475"/>
            <a:ext cx="6533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1153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5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artifact links to every other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14350" y="1207294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Illustrative matrix with coverage %, plus four export targets.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485900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660922"/>
            <a:ext cx="4356013" cy="2516386"/>
          </a:xfrm>
          <a:prstGeom prst="roundRect">
            <a:avLst>
              <a:gd name="adj" fmla="val 529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3653" y="1782366"/>
            <a:ext cx="4084551" cy="1703784"/>
          </a:xfrm>
          <a:prstGeom prst="roundRect">
            <a:avLst>
              <a:gd name="adj" fmla="val 4472"/>
            </a:avLst>
          </a:prstGeom>
          <a:solidFill>
            <a:srgbClr val="94A3B8">
              <a:alpha val="12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4365" y="1773136"/>
            <a:ext cx="1847619" cy="257775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7225" y="1785938"/>
            <a:ext cx="1801899" cy="324196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443408" y="1773136"/>
            <a:ext cx="796483" cy="257775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66268" y="1785938"/>
            <a:ext cx="750763" cy="324196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CASE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01315" y="1773136"/>
            <a:ext cx="796483" cy="257775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24175" y="1785938"/>
            <a:ext cx="750763" cy="324196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59223" y="1773136"/>
            <a:ext cx="798158" cy="257775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2083" y="1785938"/>
            <a:ext cx="752438" cy="232172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4365" y="2012452"/>
            <a:ext cx="1847619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85838" y="2110978"/>
            <a:ext cx="375047" cy="146304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login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8663" y="2103834"/>
            <a:ext cx="16590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443408" y="2012452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466268" y="2025253"/>
            <a:ext cx="750763" cy="381663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TC-001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01315" y="2012452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224175" y="2025253"/>
            <a:ext cx="750763" cy="36576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959223" y="2012452"/>
            <a:ext cx="798158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75434" y="208526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634365" y="2305345"/>
            <a:ext cx="1847619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985838" y="2403872"/>
            <a:ext cx="452289" cy="146304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OWASP A07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8663" y="2396728"/>
            <a:ext cx="16590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SR-01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443408" y="2305345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466268" y="2318147"/>
            <a:ext cx="750763" cy="36576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201315" y="2305345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224175" y="2318147"/>
            <a:ext cx="750763" cy="381663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STC-005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959223" y="2305345"/>
            <a:ext cx="798158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275434" y="237815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634365" y="2598239"/>
            <a:ext cx="1847619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985838" y="2696766"/>
            <a:ext cx="404180" cy="146304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PDF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8663" y="2689622"/>
            <a:ext cx="16590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FR-04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443408" y="2598239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466268" y="2611041"/>
            <a:ext cx="750763" cy="381663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TC-018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201315" y="2598239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224175" y="2611041"/>
            <a:ext cx="750763" cy="36576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959223" y="2598239"/>
            <a:ext cx="798158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275434" y="267104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634365" y="2891133"/>
            <a:ext cx="1847619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1028700" y="2989659"/>
            <a:ext cx="745071" cy="146304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Response &lt; 500ms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8663" y="2982516"/>
            <a:ext cx="16590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NFR-02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2443408" y="2891133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2466268" y="2903934"/>
            <a:ext cx="750763" cy="381663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TC-022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201315" y="2891133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3224175" y="2903934"/>
            <a:ext cx="750763" cy="36576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959223" y="2891133"/>
            <a:ext cx="798158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275434" y="296394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634365" y="3184027"/>
            <a:ext cx="1847619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985838" y="3282553"/>
            <a:ext cx="452289" cy="146304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OWASP A03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28663" y="3275409"/>
            <a:ext cx="16590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SR-03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2443408" y="3184027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2466268" y="3196828"/>
            <a:ext cx="750763" cy="28575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201315" y="3184027"/>
            <a:ext cx="796483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224175" y="3196828"/>
            <a:ext cx="750763" cy="285750"/>
          </a:xfrm>
          <a:prstGeom prst="rect">
            <a:avLst/>
          </a:prstGeom>
          <a:noFill/>
          <a:ln/>
        </p:spPr>
        <p:txBody>
          <a:bodyPr wrap="none" lIns="71438" tIns="57150" rIns="71438" bIns="5715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STC-009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959223" y="3184027"/>
            <a:ext cx="798158" cy="31135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4275434" y="325683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271963"/>
            <a:ext cx="4363157" cy="41433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517922" y="4275534"/>
            <a:ext cx="4356013" cy="407194"/>
          </a:xfrm>
          <a:prstGeom prst="roundRect">
            <a:avLst>
              <a:gd name="adj" fmla="val 23392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621506" y="436483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621506" y="436483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67" name="Text 63"/>
          <p:cNvSpPr/>
          <p:nvPr/>
        </p:nvSpPr>
        <p:spPr>
          <a:xfrm>
            <a:off x="921544" y="4416623"/>
            <a:ext cx="3848807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Example coverage: 100%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FRs mapped to a test case; </a:t>
            </a:r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SRs mapped to a security test.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5063244" y="1660922"/>
            <a:ext cx="1732248" cy="1519275"/>
          </a:xfrm>
          <a:prstGeom prst="roundRect">
            <a:avLst>
              <a:gd name="adj" fmla="val 7523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170401" y="176807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171115" y="176879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71" name="Text 67"/>
          <p:cNvSpPr/>
          <p:nvPr/>
        </p:nvSpPr>
        <p:spPr>
          <a:xfrm>
            <a:off x="5166829" y="2064544"/>
            <a:ext cx="152507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844" dirty="0"/>
          </a:p>
        </p:txBody>
      </p:sp>
      <p:sp>
        <p:nvSpPr>
          <p:cNvPr id="72" name="Text 68"/>
          <p:cNvSpPr/>
          <p:nvPr/>
        </p:nvSpPr>
        <p:spPr>
          <a:xfrm>
            <a:off x="5166829" y="2268141"/>
            <a:ext cx="1616519" cy="30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Stakeholder-ready, paginated artifact bundle.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6893719" y="1660922"/>
            <a:ext cx="1732248" cy="1519275"/>
          </a:xfrm>
          <a:prstGeom prst="roundRect">
            <a:avLst>
              <a:gd name="adj" fmla="val 7523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7000875" y="176807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7001589" y="176879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76" name="Text 72"/>
          <p:cNvSpPr/>
          <p:nvPr/>
        </p:nvSpPr>
        <p:spPr>
          <a:xfrm>
            <a:off x="6997303" y="2064544"/>
            <a:ext cx="152507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DOCX</a:t>
            </a:r>
            <a:endParaRPr lang="en-US" sz="844" dirty="0"/>
          </a:p>
        </p:txBody>
      </p:sp>
      <p:sp>
        <p:nvSpPr>
          <p:cNvPr id="77" name="Text 73"/>
          <p:cNvSpPr/>
          <p:nvPr/>
        </p:nvSpPr>
        <p:spPr>
          <a:xfrm>
            <a:off x="6997303" y="2268141"/>
            <a:ext cx="1616519" cy="30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Editable Word doc for downstream revision.</a:t>
            </a:r>
            <a:endParaRPr lang="en-US" sz="800" dirty="0"/>
          </a:p>
        </p:txBody>
      </p:sp>
      <p:sp>
        <p:nvSpPr>
          <p:cNvPr id="78" name="Text 74"/>
          <p:cNvSpPr/>
          <p:nvPr/>
        </p:nvSpPr>
        <p:spPr>
          <a:xfrm>
            <a:off x="5063244" y="3278423"/>
            <a:ext cx="1732248" cy="1404305"/>
          </a:xfrm>
          <a:prstGeom prst="roundRect">
            <a:avLst>
              <a:gd name="adj" fmla="val 813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5170401" y="3385579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5171115" y="338629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81" name="Text 77"/>
          <p:cNvSpPr/>
          <p:nvPr/>
        </p:nvSpPr>
        <p:spPr>
          <a:xfrm>
            <a:off x="5166829" y="3682045"/>
            <a:ext cx="152507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LaTeX</a:t>
            </a:r>
            <a:endParaRPr lang="en-US" sz="844" dirty="0"/>
          </a:p>
        </p:txBody>
      </p:sp>
      <p:sp>
        <p:nvSpPr>
          <p:cNvPr id="82" name="Text 78"/>
          <p:cNvSpPr/>
          <p:nvPr/>
        </p:nvSpPr>
        <p:spPr>
          <a:xfrm>
            <a:off x="5166829" y="3885642"/>
            <a:ext cx="161658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/ publication-ready source.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6893719" y="3278423"/>
            <a:ext cx="1732248" cy="1404305"/>
          </a:xfrm>
          <a:prstGeom prst="roundRect">
            <a:avLst>
              <a:gd name="adj" fmla="val 8139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7000875" y="3385579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6366F1">
              <a:alpha val="14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7001589" y="338629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86" name="Text 82"/>
          <p:cNvSpPr/>
          <p:nvPr/>
        </p:nvSpPr>
        <p:spPr>
          <a:xfrm>
            <a:off x="6997303" y="3682045"/>
            <a:ext cx="152507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endParaRPr lang="en-US" sz="844" dirty="0"/>
          </a:p>
        </p:txBody>
      </p:sp>
      <p:sp>
        <p:nvSpPr>
          <p:cNvPr id="87" name="Text 83"/>
          <p:cNvSpPr/>
          <p:nvPr/>
        </p:nvSpPr>
        <p:spPr>
          <a:xfrm>
            <a:off x="6997303" y="3885642"/>
            <a:ext cx="1616584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Machine-readable matrix for tooling.</a:t>
            </a:r>
            <a:endParaRPr lang="en-US" sz="800" dirty="0"/>
          </a:p>
        </p:txBody>
      </p:sp>
      <p:sp>
        <p:nvSpPr>
          <p:cNvPr id="88" name="Text 84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5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5794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08045" y="371475"/>
            <a:ext cx="631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11530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 modern TypeScript stack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064419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language end-to-end — frontend, backend, and tooling.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230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537692"/>
            <a:ext cx="3974604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69842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10" name="Text 7"/>
          <p:cNvSpPr/>
          <p:nvPr/>
        </p:nvSpPr>
        <p:spPr>
          <a:xfrm>
            <a:off x="1046917" y="1735288"/>
            <a:ext cx="630056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69777" y="1746647"/>
            <a:ext cx="584336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70084" y="2092819"/>
            <a:ext cx="639098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2944" y="2105620"/>
            <a:ext cx="593378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24183" y="2092819"/>
            <a:ext cx="692899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347043" y="2105620"/>
            <a:ext cx="647179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32084" y="2092819"/>
            <a:ext cx="945609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54944" y="2105620"/>
            <a:ext cx="899889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v4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001335" y="2092819"/>
            <a:ext cx="383954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015555" y="2105620"/>
            <a:ext cx="355513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08931" y="2092819"/>
            <a:ext cx="902635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31791" y="2105620"/>
            <a:ext cx="856915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Router 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51474" y="1537692"/>
            <a:ext cx="3974604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26496" y="169842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24" name="Text 21"/>
          <p:cNvSpPr/>
          <p:nvPr/>
        </p:nvSpPr>
        <p:spPr>
          <a:xfrm>
            <a:off x="5181782" y="1735288"/>
            <a:ext cx="581778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03329" y="1746647"/>
            <a:ext cx="538683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05520" y="2092819"/>
            <a:ext cx="566348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26496" y="2105620"/>
            <a:ext cx="524396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Node.js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88754" y="2092819"/>
            <a:ext cx="674035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11614" y="2105620"/>
            <a:ext cx="628315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Express 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77791" y="2092819"/>
            <a:ext cx="692899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0651" y="2105620"/>
            <a:ext cx="647179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794126" y="2092819"/>
            <a:ext cx="389500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808552" y="2105620"/>
            <a:ext cx="360648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15902" y="2092819"/>
            <a:ext cx="378529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229921" y="2105620"/>
            <a:ext cx="350490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Zod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20997" y="2092819"/>
            <a:ext cx="543684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7641134" y="2105620"/>
            <a:ext cx="503411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Helmet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08360" y="2403572"/>
            <a:ext cx="489677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826496" y="2416373"/>
            <a:ext cx="453405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7922" y="3189684"/>
            <a:ext cx="3974604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92944" y="3350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95" dirty="0"/>
          </a:p>
        </p:txBody>
      </p:sp>
      <p:sp>
        <p:nvSpPr>
          <p:cNvPr id="42" name="Text 39"/>
          <p:cNvSpPr/>
          <p:nvPr/>
        </p:nvSpPr>
        <p:spPr>
          <a:xfrm>
            <a:off x="1047466" y="3387281"/>
            <a:ext cx="602392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1069777" y="3398639"/>
            <a:ext cx="557771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AI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6516" y="3761184"/>
            <a:ext cx="1511126" cy="242888"/>
          </a:xfrm>
          <a:prstGeom prst="roundRect">
            <a:avLst>
              <a:gd name="adj" fmla="val 31372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92944" y="3757613"/>
            <a:ext cx="1548631" cy="274320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(Neon serverless)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249076" y="3744811"/>
            <a:ext cx="1106567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2271936" y="3757613"/>
            <a:ext cx="1060847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Groq llama-3.3-70b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96516" y="4071938"/>
            <a:ext cx="1429085" cy="242888"/>
          </a:xfrm>
          <a:prstGeom prst="roundRect">
            <a:avLst>
              <a:gd name="adj" fmla="val 31372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92944" y="4068366"/>
            <a:ext cx="1548631" cy="274320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Google Gemini 2.5-flash-lite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651474" y="3189684"/>
            <a:ext cx="3974604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826496" y="3350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195" dirty="0"/>
          </a:p>
        </p:txBody>
      </p:sp>
      <p:sp>
        <p:nvSpPr>
          <p:cNvPr id="52" name="Text 49"/>
          <p:cNvSpPr/>
          <p:nvPr/>
        </p:nvSpPr>
        <p:spPr>
          <a:xfrm>
            <a:off x="5180469" y="3387281"/>
            <a:ext cx="942595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203329" y="3398639"/>
            <a:ext cx="896875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&amp; DEPLOY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809079" y="3744811"/>
            <a:ext cx="470269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4826496" y="3757613"/>
            <a:ext cx="435434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pdfkit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302792" y="3744811"/>
            <a:ext cx="536210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5322652" y="3757613"/>
            <a:ext cx="496491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docx.js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857004" y="3744811"/>
            <a:ext cx="654948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5879864" y="3757613"/>
            <a:ext cx="609228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csv-writer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528633" y="3744811"/>
            <a:ext cx="571893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549814" y="3757613"/>
            <a:ext cx="529530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resvg-js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117207" y="3744811"/>
            <a:ext cx="703950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140067" y="3757613"/>
            <a:ext cx="658230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 (FE)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803636" y="4055564"/>
            <a:ext cx="759872" cy="275634"/>
          </a:xfrm>
          <a:prstGeom prst="roundRect">
            <a:avLst>
              <a:gd name="adj" fmla="val 27645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4826496" y="4068366"/>
            <a:ext cx="714152" cy="250031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Render (BE)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6074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36062" y="371475"/>
            <a:ext cx="6512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521065" cy="344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Inside the app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064419"/>
            <a:ext cx="86296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screens the committee can ask to see live.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230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537692"/>
            <a:ext cx="3974604" cy="1564258"/>
          </a:xfrm>
          <a:prstGeom prst="roundRect">
            <a:avLst>
              <a:gd name="adj" fmla="val 852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" y="1541264"/>
            <a:ext cx="3967460" cy="285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8656" y="171807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95" dirty="0"/>
          </a:p>
        </p:txBody>
      </p:sp>
      <p:sp>
        <p:nvSpPr>
          <p:cNvPr id="11" name="Text 7"/>
          <p:cNvSpPr/>
          <p:nvPr/>
        </p:nvSpPr>
        <p:spPr>
          <a:xfrm>
            <a:off x="1041202" y="1698427"/>
            <a:ext cx="8542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SCREEN 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41202" y="1816298"/>
            <a:ext cx="7789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709017" y="2132409"/>
            <a:ext cx="3161221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930960" y="2100263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09017" y="2300288"/>
            <a:ext cx="2335002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104741" y="226814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09017" y="2468166"/>
            <a:ext cx="1436898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206637" y="2436019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78656" y="2691408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71525" y="2634258"/>
            <a:ext cx="356026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 of projects, status badges, last-run timestamp.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78656" y="2881945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71525" y="2824795"/>
            <a:ext cx="3560266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actions: New project, Open, Delete.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651474" y="1537692"/>
            <a:ext cx="3974604" cy="1564258"/>
          </a:xfrm>
          <a:prstGeom prst="roundRect">
            <a:avLst>
              <a:gd name="adj" fmla="val 852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046" y="1541264"/>
            <a:ext cx="3967460" cy="285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12209" y="171807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26" name="Text 21"/>
          <p:cNvSpPr/>
          <p:nvPr/>
        </p:nvSpPr>
        <p:spPr>
          <a:xfrm>
            <a:off x="5174754" y="1698427"/>
            <a:ext cx="104887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SCREEN 02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174754" y="1816298"/>
            <a:ext cx="875709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Detail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4842570" y="2132409"/>
            <a:ext cx="2335002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238293" y="2100263"/>
            <a:ext cx="11966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842570" y="2300288"/>
            <a:ext cx="3161221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8064512" y="2268141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842570" y="2468166"/>
            <a:ext cx="1436898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340190" y="2436019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812209" y="2691408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905077" y="2634258"/>
            <a:ext cx="356026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10 pipeline stages with live SSE progress.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812209" y="2881945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905077" y="2824795"/>
            <a:ext cx="3560266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Re-run or resume from any saved stage.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17922" y="3260899"/>
            <a:ext cx="3974604" cy="1564258"/>
          </a:xfrm>
          <a:prstGeom prst="roundRect">
            <a:avLst>
              <a:gd name="adj" fmla="val 852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3264471"/>
            <a:ext cx="3967460" cy="2857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78656" y="3441278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41" name="Text 35"/>
          <p:cNvSpPr/>
          <p:nvPr/>
        </p:nvSpPr>
        <p:spPr>
          <a:xfrm>
            <a:off x="1041202" y="3421633"/>
            <a:ext cx="12184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SCREEN 03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041202" y="3539505"/>
            <a:ext cx="101725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Artifacts Viewer</a:t>
            </a:r>
            <a:endParaRPr lang="en-US" sz="1013" dirty="0"/>
          </a:p>
        </p:txBody>
      </p:sp>
      <p:sp>
        <p:nvSpPr>
          <p:cNvPr id="43" name="Text 37"/>
          <p:cNvSpPr/>
          <p:nvPr/>
        </p:nvSpPr>
        <p:spPr>
          <a:xfrm>
            <a:off x="709017" y="3855616"/>
            <a:ext cx="3161221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3930960" y="3823469"/>
            <a:ext cx="370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709017" y="4023494"/>
            <a:ext cx="2335002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104741" y="3991347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709017" y="4191372"/>
            <a:ext cx="1436898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2206637" y="4159225"/>
            <a:ext cx="2094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678656" y="4414614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771525" y="4357464"/>
            <a:ext cx="356026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generated artifact — SRS, tests, UML, UI code — listed.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678656" y="4605151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771525" y="4548001"/>
            <a:ext cx="3560266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artifact individually downloadable.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4651474" y="3260899"/>
            <a:ext cx="3974604" cy="1564258"/>
          </a:xfrm>
          <a:prstGeom prst="roundRect">
            <a:avLst>
              <a:gd name="adj" fmla="val 8525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046" y="3264471"/>
            <a:ext cx="3967460" cy="28575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812209" y="3441278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56" name="Text 49"/>
          <p:cNvSpPr/>
          <p:nvPr/>
        </p:nvSpPr>
        <p:spPr>
          <a:xfrm>
            <a:off x="5174754" y="3421633"/>
            <a:ext cx="8113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SCREEN 04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5174754" y="3539505"/>
            <a:ext cx="67738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Preview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4842570" y="3855616"/>
            <a:ext cx="2335002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7238293" y="3823469"/>
            <a:ext cx="11966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4842570" y="4023494"/>
            <a:ext cx="3161221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8064512" y="3991347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4842570" y="4191372"/>
            <a:ext cx="1436898" cy="42863"/>
          </a:xfrm>
          <a:prstGeom prst="roundRect">
            <a:avLst>
              <a:gd name="adj" fmla="val 66666"/>
            </a:avLst>
          </a:prstGeom>
          <a:solidFill>
            <a:srgbClr val="94A3B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6340190" y="4159225"/>
            <a:ext cx="91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4812209" y="4414614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4905077" y="4357464"/>
            <a:ext cx="3560266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Rendered HTML+Tailwind output per screen.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4812209" y="4605151"/>
            <a:ext cx="35719" cy="35719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4905077" y="4548001"/>
            <a:ext cx="3560266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Opened in a sandboxed iframe for live preview.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189738" y="4928741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walkthrough available on request.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3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71475"/>
            <a:ext cx="775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85969" y="371475"/>
            <a:ext cx="4534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692944"/>
            <a:ext cx="811530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Validated, not just demoed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064419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tests + standards conformance across every artifact type.</a:t>
            </a:r>
            <a:endParaRPr lang="en-US" sz="95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2309"/>
            <a:ext cx="40005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1568053"/>
            <a:ext cx="2616957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93131" y="1671638"/>
            <a:ext cx="8381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664369" y="1728788"/>
            <a:ext cx="2324063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664369" y="2220255"/>
            <a:ext cx="232406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TESTS PASSING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64369" y="2402421"/>
            <a:ext cx="2433791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Across 2 suites: auth routes + export service.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63466" y="1568053"/>
            <a:ext cx="2616957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20605" y="1671638"/>
            <a:ext cx="75623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5" name="Text 12"/>
          <p:cNvSpPr/>
          <p:nvPr/>
        </p:nvSpPr>
        <p:spPr>
          <a:xfrm>
            <a:off x="3409913" y="1728788"/>
            <a:ext cx="232406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 830</a:t>
            </a:r>
            <a:endParaRPr lang="en-US" sz="1688" dirty="0"/>
          </a:p>
        </p:txBody>
      </p:sp>
      <p:sp>
        <p:nvSpPr>
          <p:cNvPr id="16" name="Text 13"/>
          <p:cNvSpPr/>
          <p:nvPr/>
        </p:nvSpPr>
        <p:spPr>
          <a:xfrm>
            <a:off x="3409913" y="2025253"/>
            <a:ext cx="232406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SRS CONFORMANCE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09913" y="2207419"/>
            <a:ext cx="2433791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Generated SRS follows IEEE-830 structure.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09010" y="1568053"/>
            <a:ext cx="2617068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787692" y="1671638"/>
            <a:ext cx="7348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0" name="Text 17"/>
          <p:cNvSpPr/>
          <p:nvPr/>
        </p:nvSpPr>
        <p:spPr>
          <a:xfrm>
            <a:off x="6155457" y="1728788"/>
            <a:ext cx="2324174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 829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6155457" y="2025253"/>
            <a:ext cx="232417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TEST-DOC CONFORMANCE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55457" y="2207419"/>
            <a:ext cx="243390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cases use IEEE-829 fields.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7922" y="3189684"/>
            <a:ext cx="2616957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620194" y="3293269"/>
            <a:ext cx="4111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664369" y="3350419"/>
            <a:ext cx="2324063" cy="17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238" b="1" spc="-25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OWASP Top 10 (2021)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664369" y="3586832"/>
            <a:ext cx="232406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MAPPING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64369" y="3768998"/>
            <a:ext cx="2433791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SR linked to a Top-10 category.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63466" y="3189684"/>
            <a:ext cx="2616957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30899" y="3293269"/>
            <a:ext cx="54593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30" name="Text 27"/>
          <p:cNvSpPr/>
          <p:nvPr/>
        </p:nvSpPr>
        <p:spPr>
          <a:xfrm>
            <a:off x="3409913" y="3350419"/>
            <a:ext cx="232406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 12207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3409913" y="3646884"/>
            <a:ext cx="232406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LIFECYCLE ALIGNMENT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09913" y="3829050"/>
            <a:ext cx="2433791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standard followed end-to-end.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09010" y="3189684"/>
            <a:ext cx="2617068" cy="1493044"/>
          </a:xfrm>
          <a:prstGeom prst="roundRect">
            <a:avLst>
              <a:gd name="adj" fmla="val 8931"/>
            </a:avLst>
          </a:prstGeom>
          <a:solidFill>
            <a:srgbClr val="1E293B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82471" y="3293269"/>
            <a:ext cx="54002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5" name="Text 32"/>
          <p:cNvSpPr/>
          <p:nvPr/>
        </p:nvSpPr>
        <p:spPr>
          <a:xfrm>
            <a:off x="6155457" y="3350419"/>
            <a:ext cx="232417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</a:t>
            </a:r>
            <a:endParaRPr lang="en-US" sz="3150" dirty="0"/>
          </a:p>
        </p:txBody>
      </p:sp>
      <p:sp>
        <p:nvSpPr>
          <p:cNvPr id="36" name="Text 33"/>
          <p:cNvSpPr/>
          <p:nvPr/>
        </p:nvSpPr>
        <p:spPr>
          <a:xfrm>
            <a:off x="6155457" y="3841886"/>
            <a:ext cx="232417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DIAGRAM STANDARD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55457" y="4024052"/>
            <a:ext cx="243390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Use-case, class, sequence per UML spec.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37692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26078" y="1534120"/>
            <a:ext cx="0" cy="4572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350" y="1987748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066" y="1534120"/>
            <a:ext cx="0" cy="45720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350" y="2070795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6078" y="2067223"/>
            <a:ext cx="0" cy="4572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2520851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066" y="2067223"/>
            <a:ext cx="0" cy="45720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03897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6078" y="2600325"/>
            <a:ext cx="0" cy="4572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4350" y="3053953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066" y="2600325"/>
            <a:ext cx="0" cy="45720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350" y="313699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26078" y="3133427"/>
            <a:ext cx="0" cy="4572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350" y="3587055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066" y="3133427"/>
            <a:ext cx="0" cy="45720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350" y="3670102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26078" y="3666530"/>
            <a:ext cx="0" cy="45720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4120158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066" y="3666530"/>
            <a:ext cx="0" cy="45720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371475"/>
            <a:ext cx="77433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72016" y="371475"/>
            <a:ext cx="471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692944"/>
            <a:ext cx="8521065" cy="344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delivered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514350" y="1064419"/>
            <a:ext cx="862965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objectives, five outcomes — all met.</a:t>
            </a:r>
            <a:endParaRPr lang="en-US" sz="956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2309"/>
            <a:ext cx="400050" cy="2857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14350" y="1534120"/>
            <a:ext cx="811530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0081" y="1655564"/>
            <a:ext cx="731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688" dirty="0"/>
          </a:p>
        </p:txBody>
      </p:sp>
      <p:sp>
        <p:nvSpPr>
          <p:cNvPr id="30" name="Text 27"/>
          <p:cNvSpPr/>
          <p:nvPr/>
        </p:nvSpPr>
        <p:spPr>
          <a:xfrm>
            <a:off x="1235869" y="1690390"/>
            <a:ext cx="6616452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input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Accepts free-form plain-language project descriptions.</a:t>
            </a:r>
            <a:endParaRPr lang="en-US" sz="844" dirty="0"/>
          </a:p>
        </p:txBody>
      </p:sp>
      <p:sp>
        <p:nvSpPr>
          <p:cNvPr id="31" name="Text 28"/>
          <p:cNvSpPr/>
          <p:nvPr/>
        </p:nvSpPr>
        <p:spPr>
          <a:xfrm>
            <a:off x="7960388" y="1628475"/>
            <a:ext cx="554051" cy="268491"/>
          </a:xfrm>
          <a:prstGeom prst="roundRect">
            <a:avLst>
              <a:gd name="adj" fmla="val 354405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045202" y="1691283"/>
            <a:ext cx="142875" cy="142875"/>
          </a:xfrm>
          <a:prstGeom prst="roundRect">
            <a:avLst>
              <a:gd name="adj" fmla="val 66667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8245227" y="1700213"/>
            <a:ext cx="155823" cy="121444"/>
          </a:xfrm>
          <a:prstGeom prst="rect">
            <a:avLst/>
          </a:prstGeom>
          <a:noFill/>
          <a:ln/>
        </p:spPr>
        <p:txBody>
          <a:bodyPr wrap="none" lIns="57150" tIns="42863" rIns="85725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045202" y="1691283"/>
            <a:ext cx="142875" cy="142875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8045202" y="16912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6" name="Text 33"/>
          <p:cNvSpPr/>
          <p:nvPr/>
        </p:nvSpPr>
        <p:spPr>
          <a:xfrm>
            <a:off x="514350" y="2067223"/>
            <a:ext cx="811530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50081" y="2188666"/>
            <a:ext cx="731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8" dirty="0"/>
          </a:p>
        </p:txBody>
      </p:sp>
      <p:sp>
        <p:nvSpPr>
          <p:cNvPr id="38" name="Text 35"/>
          <p:cNvSpPr/>
          <p:nvPr/>
        </p:nvSpPr>
        <p:spPr>
          <a:xfrm>
            <a:off x="1235869" y="2223492"/>
            <a:ext cx="6616452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SRS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IEEE-830 SRS with functional, non-functional, and security requirements.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7960388" y="2161577"/>
            <a:ext cx="554051" cy="268491"/>
          </a:xfrm>
          <a:prstGeom prst="roundRect">
            <a:avLst>
              <a:gd name="adj" fmla="val 354405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8045202" y="2224385"/>
            <a:ext cx="142875" cy="142875"/>
          </a:xfrm>
          <a:prstGeom prst="roundRect">
            <a:avLst>
              <a:gd name="adj" fmla="val 66667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8245227" y="2233315"/>
            <a:ext cx="155823" cy="121444"/>
          </a:xfrm>
          <a:prstGeom prst="rect">
            <a:avLst/>
          </a:prstGeom>
          <a:noFill/>
          <a:ln/>
        </p:spPr>
        <p:txBody>
          <a:bodyPr wrap="none" lIns="57150" tIns="42863" rIns="85725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045202" y="2224385"/>
            <a:ext cx="142875" cy="142875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8045202" y="22243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4" name="Text 41"/>
          <p:cNvSpPr/>
          <p:nvPr/>
        </p:nvSpPr>
        <p:spPr>
          <a:xfrm>
            <a:off x="514350" y="2600325"/>
            <a:ext cx="811530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50081" y="2721769"/>
            <a:ext cx="731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8" dirty="0"/>
          </a:p>
        </p:txBody>
      </p:sp>
      <p:sp>
        <p:nvSpPr>
          <p:cNvPr id="46" name="Text 43"/>
          <p:cNvSpPr/>
          <p:nvPr/>
        </p:nvSpPr>
        <p:spPr>
          <a:xfrm>
            <a:off x="1235869" y="2756595"/>
            <a:ext cx="6616452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cases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Functional tests (IEEE 829) + security tests (OWASP-driven).</a:t>
            </a:r>
            <a:endParaRPr lang="en-US" sz="844" dirty="0"/>
          </a:p>
        </p:txBody>
      </p:sp>
      <p:sp>
        <p:nvSpPr>
          <p:cNvPr id="47" name="Text 44"/>
          <p:cNvSpPr/>
          <p:nvPr/>
        </p:nvSpPr>
        <p:spPr>
          <a:xfrm>
            <a:off x="7960388" y="2694680"/>
            <a:ext cx="554051" cy="268491"/>
          </a:xfrm>
          <a:prstGeom prst="roundRect">
            <a:avLst>
              <a:gd name="adj" fmla="val 354405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8045202" y="2757488"/>
            <a:ext cx="142875" cy="142875"/>
          </a:xfrm>
          <a:prstGeom prst="roundRect">
            <a:avLst>
              <a:gd name="adj" fmla="val 66667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8245227" y="2766417"/>
            <a:ext cx="155823" cy="121444"/>
          </a:xfrm>
          <a:prstGeom prst="rect">
            <a:avLst/>
          </a:prstGeom>
          <a:noFill/>
          <a:ln/>
        </p:spPr>
        <p:txBody>
          <a:bodyPr wrap="none" lIns="57150" tIns="42863" rIns="85725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045202" y="2757488"/>
            <a:ext cx="142875" cy="142875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8045202" y="27574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2" name="Text 49"/>
          <p:cNvSpPr/>
          <p:nvPr/>
        </p:nvSpPr>
        <p:spPr>
          <a:xfrm>
            <a:off x="514350" y="3133427"/>
            <a:ext cx="811530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50081" y="3254871"/>
            <a:ext cx="731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688" dirty="0"/>
          </a:p>
        </p:txBody>
      </p:sp>
      <p:sp>
        <p:nvSpPr>
          <p:cNvPr id="54" name="Text 51"/>
          <p:cNvSpPr/>
          <p:nvPr/>
        </p:nvSpPr>
        <p:spPr>
          <a:xfrm>
            <a:off x="1235869" y="3289697"/>
            <a:ext cx="6616452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UML + UI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Mermaid UML diagrams + HTML/Tailwind per screen.</a:t>
            </a:r>
            <a:endParaRPr lang="en-US" sz="844" dirty="0"/>
          </a:p>
        </p:txBody>
      </p:sp>
      <p:sp>
        <p:nvSpPr>
          <p:cNvPr id="55" name="Text 52"/>
          <p:cNvSpPr/>
          <p:nvPr/>
        </p:nvSpPr>
        <p:spPr>
          <a:xfrm>
            <a:off x="7960388" y="3227782"/>
            <a:ext cx="554051" cy="268491"/>
          </a:xfrm>
          <a:prstGeom prst="roundRect">
            <a:avLst>
              <a:gd name="adj" fmla="val 354405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8045202" y="3290590"/>
            <a:ext cx="142875" cy="142875"/>
          </a:xfrm>
          <a:prstGeom prst="roundRect">
            <a:avLst>
              <a:gd name="adj" fmla="val 66667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8245227" y="3299520"/>
            <a:ext cx="155823" cy="121444"/>
          </a:xfrm>
          <a:prstGeom prst="rect">
            <a:avLst/>
          </a:prstGeom>
          <a:noFill/>
          <a:ln/>
        </p:spPr>
        <p:txBody>
          <a:bodyPr wrap="none" lIns="57150" tIns="42863" rIns="85725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045202" y="3290590"/>
            <a:ext cx="142875" cy="142875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8045202" y="329059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0" name="Text 57"/>
          <p:cNvSpPr/>
          <p:nvPr/>
        </p:nvSpPr>
        <p:spPr>
          <a:xfrm>
            <a:off x="514350" y="3666530"/>
            <a:ext cx="8115300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650081" y="3787973"/>
            <a:ext cx="731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688" dirty="0"/>
          </a:p>
        </p:txBody>
      </p:sp>
      <p:sp>
        <p:nvSpPr>
          <p:cNvPr id="62" name="Text 59"/>
          <p:cNvSpPr/>
          <p:nvPr/>
        </p:nvSpPr>
        <p:spPr>
          <a:xfrm>
            <a:off x="1235869" y="3822799"/>
            <a:ext cx="6616452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 + exports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Matrix with coverage % + PDF/DOCX/LaTeX/CSV.</a:t>
            </a:r>
            <a:endParaRPr lang="en-US" sz="844" dirty="0"/>
          </a:p>
        </p:txBody>
      </p:sp>
      <p:sp>
        <p:nvSpPr>
          <p:cNvPr id="63" name="Text 60"/>
          <p:cNvSpPr/>
          <p:nvPr/>
        </p:nvSpPr>
        <p:spPr>
          <a:xfrm>
            <a:off x="7960388" y="3760884"/>
            <a:ext cx="554051" cy="268491"/>
          </a:xfrm>
          <a:prstGeom prst="roundRect">
            <a:avLst>
              <a:gd name="adj" fmla="val 3544057"/>
            </a:avLst>
          </a:prstGeom>
          <a:solidFill>
            <a:srgbClr val="10B981">
              <a:alpha val="10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8045202" y="3823692"/>
            <a:ext cx="142875" cy="142875"/>
          </a:xfrm>
          <a:prstGeom prst="roundRect">
            <a:avLst>
              <a:gd name="adj" fmla="val 66667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8245227" y="3832622"/>
            <a:ext cx="155823" cy="121444"/>
          </a:xfrm>
          <a:prstGeom prst="rect">
            <a:avLst/>
          </a:prstGeom>
          <a:noFill/>
          <a:ln/>
        </p:spPr>
        <p:txBody>
          <a:bodyPr wrap="none" lIns="57150" tIns="42863" rIns="85725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045202" y="3823692"/>
            <a:ext cx="142875" cy="142875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8045202" y="382369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229993"/>
            <a:ext cx="8115300" cy="335756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517922" y="4233565"/>
            <a:ext cx="8108156" cy="328613"/>
          </a:xfrm>
          <a:prstGeom prst="roundRect">
            <a:avLst>
              <a:gd name="adj" fmla="val 28985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14350" y="4229993"/>
            <a:ext cx="8115300" cy="368373"/>
          </a:xfrm>
          <a:prstGeom prst="rect">
            <a:avLst/>
          </a:prstGeom>
          <a:noFill/>
          <a:ln/>
        </p:spPr>
        <p:txBody>
          <a:bodyPr wrap="square" lIns="128588" tIns="85725" rIns="128588" bIns="85725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gap closed:</a:t>
            </a:r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first integrated NL → SRS → UI → functional + security tests pipeline with auto security &amp; full traceability.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544836"/>
            <a:ext cx="3981748" cy="0"/>
          </a:xfrm>
          <a:prstGeom prst="line">
            <a:avLst/>
          </a:prstGeom>
          <a:noFill/>
          <a:ln w="21431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92526" y="1534120"/>
            <a:ext cx="0" cy="315218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350" y="4682728"/>
            <a:ext cx="398174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922" y="1534120"/>
            <a:ext cx="0" cy="315218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47902" y="1544836"/>
            <a:ext cx="3981748" cy="0"/>
          </a:xfrm>
          <a:prstGeom prst="line">
            <a:avLst/>
          </a:prstGeom>
          <a:noFill/>
          <a:ln w="21431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6078" y="1534120"/>
            <a:ext cx="0" cy="315218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7902" y="4682728"/>
            <a:ext cx="398174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1474" y="1534120"/>
            <a:ext cx="0" cy="315218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371475"/>
            <a:ext cx="73756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04336" y="371475"/>
            <a:ext cx="878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Limits &amp; Future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692944"/>
            <a:ext cx="811530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limits, clear roadmap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14350" y="1064419"/>
            <a:ext cx="81153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know is bounded — and where we're going next.</a:t>
            </a:r>
            <a:endParaRPr lang="en-US" sz="956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32309"/>
            <a:ext cx="400050" cy="285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4350" y="1534120"/>
            <a:ext cx="3981748" cy="3152180"/>
          </a:xfrm>
          <a:prstGeom prst="roundRect">
            <a:avLst>
              <a:gd name="adj" fmla="val 42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92944" y="17127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95" dirty="0"/>
          </a:p>
        </p:txBody>
      </p:sp>
      <p:sp>
        <p:nvSpPr>
          <p:cNvPr id="18" name="Text 15"/>
          <p:cNvSpPr/>
          <p:nvPr/>
        </p:nvSpPr>
        <p:spPr>
          <a:xfrm>
            <a:off x="1012984" y="1735288"/>
            <a:ext cx="729064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1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35844" y="1746647"/>
            <a:ext cx="683344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92944" y="2084189"/>
            <a:ext cx="3624560" cy="1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 quality depends on the LLM and on the detail of the user's input.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Throughput is bounded by API rate limits (free tiers on Groq &amp; Gemini).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Generated UI is a low-fidelity prototype — not production-ready.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Some non-functional targets (load testing, full WCAG) still need dedicated test runs.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Coverage of OWASP is Top-10-only; ASVS-level depth is future work.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47902" y="1534120"/>
            <a:ext cx="3981748" cy="3152180"/>
          </a:xfrm>
          <a:prstGeom prst="roundRect">
            <a:avLst>
              <a:gd name="adj" fmla="val 42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26496" y="171271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95" dirty="0"/>
          </a:p>
        </p:txBody>
      </p:sp>
      <p:sp>
        <p:nvSpPr>
          <p:cNvPr id="23" name="Text 20"/>
          <p:cNvSpPr/>
          <p:nvPr/>
        </p:nvSpPr>
        <p:spPr>
          <a:xfrm>
            <a:off x="5146536" y="1735288"/>
            <a:ext cx="796595" cy="212027"/>
          </a:xfrm>
          <a:prstGeom prst="roundRect">
            <a:avLst>
              <a:gd name="adj" fmla="val 4487860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69396" y="1746647"/>
            <a:ext cx="750875" cy="18930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26496" y="2084189"/>
            <a:ext cx="3624560" cy="156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dashboard for project + user management.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In-app artifact editing and refinement.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Self-critique refinement loops (LLM reviews its own output).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export targets (e.g. Markdown, OpenAPI).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 fine-tuning / retrieval augmentation.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ASVS-level security requirements.</a:t>
            </a:r>
            <a:endParaRPr lang="en-US" sz="800" dirty="0"/>
          </a:p>
          <a:p>
            <a:pPr algn="l" marL="342900" indent="-342900">
              <a:lnSpc>
                <a:spcPts val="1101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Auto-run generated tests against generated UI.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57250" y="-857250"/>
            <a:ext cx="2714625" cy="27146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00875" y="3143250"/>
            <a:ext cx="3000375" cy="3000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371475"/>
            <a:ext cx="7581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10277" y="371475"/>
            <a:ext cx="629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56655"/>
            <a:ext cx="457200" cy="28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85255"/>
            <a:ext cx="8595360" cy="54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spc="-72" kern="0" dirty="0">
                <a:solidFill>
                  <a:srgbClr val="C7D2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 closes the gap.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500188" y="2359558"/>
            <a:ext cx="6143625" cy="78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8"/>
              </a:lnSpc>
              <a:buNone/>
            </a:pPr>
            <a:r>
              <a:rPr lang="en-US" sz="1238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first integrated pipeline covering natural language → SRS → UI prototype → functional + security test cases — with automatic security generation and full end-to-end traceability.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1940198" y="3261680"/>
            <a:ext cx="526349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spc="122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INPUT. TEN STAGES. A COMPLETE, SECURITY-AWARE ARTIFACT SUITE.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3204664" y="3670360"/>
            <a:ext cx="679616" cy="264919"/>
          </a:xfrm>
          <a:prstGeom prst="roundRect">
            <a:avLst>
              <a:gd name="adj" fmla="val 3591843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27524" y="3683161"/>
            <a:ext cx="633896" cy="239316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 830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929643" y="3670360"/>
            <a:ext cx="679616" cy="264919"/>
          </a:xfrm>
          <a:prstGeom prst="roundRect">
            <a:avLst>
              <a:gd name="adj" fmla="val 3591843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952503" y="3683161"/>
            <a:ext cx="633896" cy="239316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IEEE 829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54622" y="3670360"/>
            <a:ext cx="1284603" cy="264919"/>
          </a:xfrm>
          <a:prstGeom prst="roundRect">
            <a:avLst>
              <a:gd name="adj" fmla="val 3591843"/>
            </a:avLst>
          </a:prstGeom>
          <a:solidFill>
            <a:srgbClr val="6366F1">
              <a:alpha val="10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77482" y="3683161"/>
            <a:ext cx="1238883" cy="239316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OWASP Top 10 (2021)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938" y="642938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72313" y="3071813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14350" y="4779169"/>
            <a:ext cx="81153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371475"/>
            <a:ext cx="7609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26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38071" y="371475"/>
            <a:ext cx="6485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248370"/>
            <a:ext cx="8595248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spc="-162" kern="0" dirty="0">
                <a:solidFill>
                  <a:srgbClr val="C7D2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55184" y="2062758"/>
            <a:ext cx="2233521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spc="8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are welcome.</a:t>
            </a:r>
            <a:endParaRPr lang="en-US" sz="15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619970"/>
            <a:ext cx="685800" cy="285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9829" y="2877145"/>
            <a:ext cx="4443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144241" y="3077170"/>
            <a:ext cx="4855518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spc="1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Mennatallah Hany · Mayar Hany · Yasmin Haitham · Malak Tarek · Mohamed Bassem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4128588" y="3441502"/>
            <a:ext cx="886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88672" y="3641527"/>
            <a:ext cx="196654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spc="10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Dr. Salma Radwan Abdel-Hamid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3028392" y="3991570"/>
            <a:ext cx="30871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Arab Academy for Science, Technology &amp; Maritime Transport — 2025/2026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4350" y="4912779"/>
            <a:ext cx="42863" cy="42863"/>
          </a:xfrm>
          <a:prstGeom prst="roundRect">
            <a:avLst>
              <a:gd name="adj" fmla="val 6666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4350" y="4868466"/>
            <a:ext cx="77598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REQ2UI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288536" y="4868466"/>
            <a:ext cx="34111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2026-06-24T06:49:03Z</dcterms:created>
  <dcterms:modified xsi:type="dcterms:W3CDTF">2026-06-24T06:49:03Z</dcterms:modified>
</cp:coreProperties>
</file>